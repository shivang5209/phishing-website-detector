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7556500" cy="10693400"/>
  <p:notesSz cx="6858000" cy="9144000"/>
  <p:embeddedFontLst>
    <p:embeddedFont>
      <p:font typeface="Arial Bold" panose="020B0704020202020204" pitchFamily="34" charset="0"/>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0731D6-D431-4BE5-BDAD-A046403898FB}" v="36" dt="2026-04-12T12:24:52.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5" d="100"/>
          <a:sy n="75" d="100"/>
        </p:scale>
        <p:origin x="1392" y="-10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15897" y="1575816"/>
            <a:ext cx="1114425" cy="1113406"/>
            <a:chOff x="0" y="0"/>
            <a:chExt cx="1485900" cy="1484541"/>
          </a:xfrm>
        </p:grpSpPr>
        <p:sp>
          <p:nvSpPr>
            <p:cNvPr id="3" name="Freeform 3"/>
            <p:cNvSpPr/>
            <p:nvPr/>
          </p:nvSpPr>
          <p:spPr>
            <a:xfrm>
              <a:off x="0" y="0"/>
              <a:ext cx="1485900" cy="1484503"/>
            </a:xfrm>
            <a:custGeom>
              <a:avLst/>
              <a:gdLst/>
              <a:ahLst/>
              <a:cxnLst/>
              <a:rect l="l" t="t" r="r" b="b"/>
              <a:pathLst>
                <a:path w="1485900" h="1484503">
                  <a:moveTo>
                    <a:pt x="0" y="0"/>
                  </a:moveTo>
                  <a:lnTo>
                    <a:pt x="1485900" y="0"/>
                  </a:lnTo>
                  <a:lnTo>
                    <a:pt x="1485900" y="1484503"/>
                  </a:lnTo>
                  <a:lnTo>
                    <a:pt x="0" y="1484503"/>
                  </a:lnTo>
                  <a:lnTo>
                    <a:pt x="0" y="0"/>
                  </a:lnTo>
                  <a:close/>
                </a:path>
              </a:pathLst>
            </a:custGeom>
            <a:blipFill>
              <a:blip r:embed="rId2"/>
              <a:stretch>
                <a:fillRect t="-91" b="-2"/>
              </a:stretch>
            </a:blipFill>
          </p:spPr>
          <p:txBody>
            <a:bodyPr/>
            <a:lstStyle/>
            <a:p>
              <a:endParaRPr lang="en-IN">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2590800" y="6321552"/>
            <a:ext cx="2333625" cy="1008507"/>
            <a:chOff x="0" y="0"/>
            <a:chExt cx="3111500" cy="1344676"/>
          </a:xfrm>
        </p:grpSpPr>
        <p:sp>
          <p:nvSpPr>
            <p:cNvPr id="5" name="Freeform 5"/>
            <p:cNvSpPr/>
            <p:nvPr/>
          </p:nvSpPr>
          <p:spPr>
            <a:xfrm>
              <a:off x="0" y="0"/>
              <a:ext cx="3111500" cy="1344676"/>
            </a:xfrm>
            <a:custGeom>
              <a:avLst/>
              <a:gdLst/>
              <a:ahLst/>
              <a:cxnLst/>
              <a:rect l="l" t="t" r="r" b="b"/>
              <a:pathLst>
                <a:path w="3111500" h="1344676">
                  <a:moveTo>
                    <a:pt x="0" y="0"/>
                  </a:moveTo>
                  <a:lnTo>
                    <a:pt x="3111500" y="0"/>
                  </a:lnTo>
                  <a:lnTo>
                    <a:pt x="3111500" y="1344676"/>
                  </a:lnTo>
                  <a:lnTo>
                    <a:pt x="0" y="1344676"/>
                  </a:lnTo>
                  <a:lnTo>
                    <a:pt x="0" y="0"/>
                  </a:lnTo>
                  <a:close/>
                </a:path>
              </a:pathLst>
            </a:custGeom>
            <a:blipFill>
              <a:blip r:embed="rId3"/>
              <a:stretch>
                <a:fillRect t="-113"/>
              </a:stretch>
            </a:blipFill>
          </p:spPr>
          <p:txBody>
            <a:bodyPr/>
            <a:lstStyle/>
            <a:p>
              <a:endParaRPr lang="en-IN">
                <a:latin typeface="Times New Roman" panose="02020603050405020304" pitchFamily="18" charset="0"/>
                <a:cs typeface="Times New Roman" panose="02020603050405020304" pitchFamily="18" charset="0"/>
              </a:endParaRPr>
            </a:p>
          </p:txBody>
        </p:sp>
      </p:grpSp>
      <p:sp>
        <p:nvSpPr>
          <p:cNvPr id="6" name="TextBox 6"/>
          <p:cNvSpPr txBox="1"/>
          <p:nvPr/>
        </p:nvSpPr>
        <p:spPr>
          <a:xfrm>
            <a:off x="1497689" y="836025"/>
            <a:ext cx="5276193" cy="278923"/>
          </a:xfrm>
          <a:prstGeom prst="rect">
            <a:avLst/>
          </a:prstGeom>
        </p:spPr>
        <p:txBody>
          <a:bodyPr lIns="0" tIns="0" rIns="0" bIns="0" rtlCol="0" anchor="t">
            <a:spAutoFit/>
          </a:bodyPr>
          <a:lstStyle/>
          <a:p>
            <a:pPr algn="l">
              <a:lnSpc>
                <a:spcPts val="2385"/>
              </a:lnSpc>
            </a:pPr>
            <a:r>
              <a:rPr lang="en-US" sz="1600" b="1" dirty="0">
                <a:solidFill>
                  <a:srgbClr val="C00000"/>
                </a:solidFill>
                <a:latin typeface="Times New Roman" panose="02020603050405020304" pitchFamily="18" charset="0"/>
                <a:ea typeface="Times New Roman Bold Italics"/>
                <a:cs typeface="Times New Roman" panose="02020603050405020304" pitchFamily="18" charset="0"/>
                <a:sym typeface="Times New Roman Bold Italics"/>
              </a:rPr>
              <a:t>VISVESVARAYA TECHNOLOGICAL UNIVERSITY</a:t>
            </a:r>
            <a:r>
              <a:rPr lang="en-US" sz="1600" dirty="0">
                <a:solidFill>
                  <a:srgbClr val="C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7" name="TextBox 7"/>
          <p:cNvSpPr txBox="1"/>
          <p:nvPr/>
        </p:nvSpPr>
        <p:spPr>
          <a:xfrm>
            <a:off x="2811523" y="1123550"/>
            <a:ext cx="1933251" cy="179536"/>
          </a:xfrm>
          <a:prstGeom prst="rect">
            <a:avLst/>
          </a:prstGeom>
        </p:spPr>
        <p:txBody>
          <a:bodyPr lIns="0" tIns="0" rIns="0" bIns="0" rtlCol="0" anchor="t">
            <a:spAutoFit/>
          </a:bodyPr>
          <a:lstStyle/>
          <a:p>
            <a:pPr algn="l">
              <a:lnSpc>
                <a:spcPts val="1442"/>
              </a:lnSpc>
            </a:pPr>
            <a:r>
              <a:rPr lang="en-US" sz="1200" dirty="0">
                <a:solidFill>
                  <a:srgbClr val="C00000"/>
                </a:solidFill>
                <a:latin typeface="Times New Roman" panose="02020603050405020304" pitchFamily="18" charset="0"/>
                <a:ea typeface="Times New Roman"/>
                <a:cs typeface="Times New Roman" panose="02020603050405020304" pitchFamily="18" charset="0"/>
                <a:sym typeface="Times New Roman"/>
              </a:rPr>
              <a:t>Belagavi-590014,</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200" dirty="0">
                <a:solidFill>
                  <a:srgbClr val="C00000"/>
                </a:solidFill>
                <a:latin typeface="Times New Roman" panose="02020603050405020304" pitchFamily="18" charset="0"/>
                <a:ea typeface="Times New Roman"/>
                <a:cs typeface="Times New Roman" panose="02020603050405020304" pitchFamily="18" charset="0"/>
                <a:sym typeface="Times New Roman"/>
              </a:rPr>
              <a:t>Karnataka</a:t>
            </a:r>
          </a:p>
        </p:txBody>
      </p:sp>
      <p:sp>
        <p:nvSpPr>
          <p:cNvPr id="8" name="TextBox 8"/>
          <p:cNvSpPr txBox="1"/>
          <p:nvPr/>
        </p:nvSpPr>
        <p:spPr>
          <a:xfrm>
            <a:off x="3777996" y="1322508"/>
            <a:ext cx="55188" cy="243656"/>
          </a:xfrm>
          <a:prstGeom prst="rect">
            <a:avLst/>
          </a:prstGeom>
        </p:spPr>
        <p:txBody>
          <a:bodyPr lIns="0" tIns="0" rIns="0" bIns="0" rtlCol="0" anchor="t">
            <a:spAutoFit/>
          </a:bodyPr>
          <a:lstStyle/>
          <a:p>
            <a:pPr algn="l">
              <a:lnSpc>
                <a:spcPts val="1896"/>
              </a:lnSpc>
            </a:pPr>
            <a:r>
              <a:rPr lang="en-US" sz="1600" b="1">
                <a:solidFill>
                  <a:srgbClr val="FF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9" name="TextBox 9"/>
          <p:cNvSpPr txBox="1"/>
          <p:nvPr/>
        </p:nvSpPr>
        <p:spPr>
          <a:xfrm>
            <a:off x="1210666" y="8497272"/>
            <a:ext cx="1528724"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Phone: 08482- 226949 </a:t>
            </a:r>
          </a:p>
        </p:txBody>
      </p:sp>
      <p:sp>
        <p:nvSpPr>
          <p:cNvPr id="10" name="TextBox 10"/>
          <p:cNvSpPr txBox="1"/>
          <p:nvPr/>
        </p:nvSpPr>
        <p:spPr>
          <a:xfrm>
            <a:off x="1424054" y="2863758"/>
            <a:ext cx="4837805" cy="782265"/>
          </a:xfrm>
          <a:prstGeom prst="rect">
            <a:avLst/>
          </a:prstGeom>
        </p:spPr>
        <p:txBody>
          <a:bodyPr lIns="0" tIns="0" rIns="0" bIns="0" rtlCol="0" anchor="t">
            <a:spAutoFit/>
          </a:bodyPr>
          <a:lstStyle/>
          <a:p>
            <a:pPr algn="ctr">
              <a:lnSpc>
                <a:spcPts val="1344"/>
              </a:lnSpc>
            </a:pPr>
            <a:r>
              <a:rPr lang="en-US" sz="1200"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 Synopsis </a:t>
            </a:r>
            <a:r>
              <a:rPr lang="en-US" sz="1200" spc="1" dirty="0">
                <a:solidFill>
                  <a:srgbClr val="000000"/>
                </a:solidFill>
                <a:latin typeface="Times New Roman" panose="02020603050405020304" pitchFamily="18" charset="0"/>
                <a:ea typeface="Times New Roman"/>
                <a:cs typeface="Times New Roman" panose="02020603050405020304" pitchFamily="18" charset="0"/>
                <a:sym typeface="Times New Roman"/>
              </a:rPr>
              <a:t>on</a:t>
            </a:r>
          </a:p>
          <a:p>
            <a:pPr algn="ctr">
              <a:lnSpc>
                <a:spcPts val="1607"/>
              </a:lnSpc>
            </a:pPr>
            <a:r>
              <a:rPr lang="en-US" sz="1392" b="1" spc="4"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Advanced AI-Based Phishing website Detection System with </a:t>
            </a:r>
          </a:p>
          <a:p>
            <a:pPr algn="ctr">
              <a:lnSpc>
                <a:spcPts val="1607"/>
              </a:lnSpc>
            </a:pPr>
            <a:r>
              <a:rPr lang="en-US" sz="1392" b="1" spc="2"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Real-time Analysis ”</a:t>
            </a:r>
          </a:p>
          <a:p>
            <a:pPr algn="ctr">
              <a:lnSpc>
                <a:spcPts val="1607"/>
              </a:lnSpc>
            </a:pPr>
            <a:endParaRPr lang="en-US" sz="1392" b="1" spc="4"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endParaRPr>
          </a:p>
        </p:txBody>
      </p:sp>
      <p:sp>
        <p:nvSpPr>
          <p:cNvPr id="11" name="TextBox 11"/>
          <p:cNvSpPr txBox="1"/>
          <p:nvPr/>
        </p:nvSpPr>
        <p:spPr>
          <a:xfrm>
            <a:off x="3082795" y="5448271"/>
            <a:ext cx="1425978" cy="333425"/>
          </a:xfrm>
          <a:prstGeom prst="rect">
            <a:avLst/>
          </a:prstGeom>
        </p:spPr>
        <p:txBody>
          <a:bodyPr lIns="0" tIns="0" rIns="0" bIns="0" rtlCol="0" anchor="t">
            <a:spAutoFit/>
          </a:bodyPr>
          <a:lstStyle/>
          <a:p>
            <a:pPr algn="ctr">
              <a:lnSpc>
                <a:spcPts val="1241"/>
              </a:lnSpc>
            </a:pPr>
            <a:r>
              <a:rPr lang="en-US" sz="1103">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ctr">
              <a:lnSpc>
                <a:spcPts val="1350"/>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Under the guidance of </a:t>
            </a:r>
          </a:p>
        </p:txBody>
      </p:sp>
      <p:sp>
        <p:nvSpPr>
          <p:cNvPr id="12" name="TextBox 12"/>
          <p:cNvSpPr txBox="1"/>
          <p:nvPr/>
        </p:nvSpPr>
        <p:spPr>
          <a:xfrm>
            <a:off x="4573781" y="3429676"/>
            <a:ext cx="45082" cy="208483"/>
          </a:xfrm>
          <a:prstGeom prst="rect">
            <a:avLst/>
          </a:prstGeom>
        </p:spPr>
        <p:txBody>
          <a:bodyPr lIns="0" tIns="0" rIns="0" bIns="0" rtlCol="0" anchor="t">
            <a:spAutoFit/>
          </a:bodyPr>
          <a:lstStyle/>
          <a:p>
            <a:pPr algn="l">
              <a:lnSpc>
                <a:spcPts val="1592"/>
              </a:lnSpc>
            </a:pPr>
            <a:r>
              <a:rPr lang="en-US" sz="1392" b="1">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13" name="TextBox 13"/>
          <p:cNvSpPr txBox="1"/>
          <p:nvPr/>
        </p:nvSpPr>
        <p:spPr>
          <a:xfrm>
            <a:off x="1494158" y="3620043"/>
            <a:ext cx="4685462" cy="863185"/>
          </a:xfrm>
          <a:prstGeom prst="rect">
            <a:avLst/>
          </a:prstGeom>
        </p:spPr>
        <p:txBody>
          <a:bodyPr lIns="0" tIns="0" rIns="0" bIns="0" rtlCol="0" anchor="t">
            <a:spAutoFit/>
          </a:bodyPr>
          <a:lstStyle/>
          <a:p>
            <a:pPr algn="ctr">
              <a:lnSpc>
                <a:spcPts val="1372"/>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A dissertation work submitted towards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in partial fulfillment of the requirement for the award of the degree of Bachelor of Engineering in Information Science and Engineering</a:t>
            </a:r>
            <a:r>
              <a:rPr lang="en-US" sz="1200" dirty="0">
                <a:solidFill>
                  <a:srgbClr val="002060"/>
                </a:solidFill>
                <a:latin typeface="Times New Roman" panose="02020603050405020304" pitchFamily="18" charset="0"/>
                <a:ea typeface="Times New Roman"/>
                <a:cs typeface="Times New Roman" panose="02020603050405020304" pitchFamily="18" charset="0"/>
                <a:sym typeface="Times New Roman"/>
              </a:rPr>
              <a:t> </a:t>
            </a:r>
          </a:p>
          <a:p>
            <a:pPr algn="ctr">
              <a:lnSpc>
                <a:spcPts val="3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Submitted by </a:t>
            </a:r>
          </a:p>
        </p:txBody>
      </p:sp>
      <p:sp>
        <p:nvSpPr>
          <p:cNvPr id="14" name="TextBox 14"/>
          <p:cNvSpPr txBox="1"/>
          <p:nvPr/>
        </p:nvSpPr>
        <p:spPr>
          <a:xfrm>
            <a:off x="4710941" y="8097307"/>
            <a:ext cx="45082" cy="205184"/>
          </a:xfrm>
          <a:prstGeom prst="rect">
            <a:avLst/>
          </a:prstGeom>
        </p:spPr>
        <p:txBody>
          <a:bodyPr lIns="0" tIns="0" rIns="0" bIns="0" rtlCol="0" anchor="t">
            <a:spAutoFit/>
          </a:bodyPr>
          <a:lstStyle/>
          <a:p>
            <a:pPr algn="l">
              <a:lnSpc>
                <a:spcPts val="1625"/>
              </a:lnSpc>
            </a:pPr>
            <a:r>
              <a:rPr lang="en-US" sz="1392"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15" name="TextBox 15"/>
          <p:cNvSpPr txBox="1"/>
          <p:nvPr/>
        </p:nvSpPr>
        <p:spPr>
          <a:xfrm>
            <a:off x="4541006" y="8507275"/>
            <a:ext cx="1870691" cy="179536"/>
          </a:xfrm>
          <a:prstGeom prst="rect">
            <a:avLst/>
          </a:prstGeom>
        </p:spPr>
        <p:txBody>
          <a:bodyPr lIns="0" tIns="0" rIns="0" bIns="0" rtlCol="0" anchor="t">
            <a:spAutoFit/>
          </a:bodyPr>
          <a:lstStyle/>
          <a:p>
            <a:pPr algn="l">
              <a:lnSpc>
                <a:spcPts val="1401"/>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Website: www.gndecb.ac.in </a:t>
            </a:r>
          </a:p>
        </p:txBody>
      </p:sp>
      <p:sp>
        <p:nvSpPr>
          <p:cNvPr id="16" name="TextBox 16"/>
          <p:cNvSpPr txBox="1"/>
          <p:nvPr/>
        </p:nvSpPr>
        <p:spPr>
          <a:xfrm>
            <a:off x="2874261" y="4642376"/>
            <a:ext cx="842220" cy="422224"/>
          </a:xfrm>
          <a:prstGeom prst="rect">
            <a:avLst/>
          </a:prstGeom>
        </p:spPr>
        <p:txBody>
          <a:bodyPr lIns="0" tIns="0" rIns="0" bIns="0" rtlCol="0" anchor="t">
            <a:spAutoFit/>
          </a:bodyPr>
          <a:lstStyle/>
          <a:p>
            <a:pPr algn="ctr">
              <a:lnSpc>
                <a:spcPts val="1607"/>
              </a:lnSpc>
            </a:pPr>
            <a:r>
              <a:rPr lang="en-US" sz="1392"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Aishwarya M </a:t>
            </a:r>
            <a:r>
              <a:rPr lang="en-US" sz="1392" b="1" spc="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ayuri</a:t>
            </a:r>
            <a:endParaRPr lang="en-US" sz="1392"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endParaRPr>
          </a:p>
        </p:txBody>
      </p:sp>
      <p:sp>
        <p:nvSpPr>
          <p:cNvPr id="17" name="TextBox 17"/>
          <p:cNvSpPr txBox="1"/>
          <p:nvPr/>
        </p:nvSpPr>
        <p:spPr>
          <a:xfrm>
            <a:off x="3235195" y="5757710"/>
            <a:ext cx="998877" cy="224549"/>
          </a:xfrm>
          <a:prstGeom prst="rect">
            <a:avLst/>
          </a:prstGeom>
        </p:spPr>
        <p:txBody>
          <a:bodyPr lIns="0" tIns="0" rIns="0" bIns="0" rtlCol="0" anchor="t">
            <a:spAutoFit/>
          </a:bodyPr>
          <a:lstStyle/>
          <a:p>
            <a:pPr algn="l">
              <a:lnSpc>
                <a:spcPts val="1948"/>
              </a:lnSpc>
            </a:pPr>
            <a:r>
              <a:rPr lang="en-US" sz="1392"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Prof. </a:t>
            </a:r>
            <a:r>
              <a:rPr lang="en-US" sz="1392"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Komal</a:t>
            </a:r>
          </a:p>
        </p:txBody>
      </p:sp>
      <p:sp>
        <p:nvSpPr>
          <p:cNvPr id="18" name="TextBox 18"/>
          <p:cNvSpPr txBox="1"/>
          <p:nvPr/>
        </p:nvSpPr>
        <p:spPr>
          <a:xfrm>
            <a:off x="3759860" y="4642376"/>
            <a:ext cx="1164565" cy="422224"/>
          </a:xfrm>
          <a:prstGeom prst="rect">
            <a:avLst/>
          </a:prstGeom>
        </p:spPr>
        <p:txBody>
          <a:bodyPr lIns="0" tIns="0" rIns="0" bIns="0" rtlCol="0" anchor="t">
            <a:spAutoFit/>
          </a:bodyPr>
          <a:lstStyle/>
          <a:p>
            <a:pPr algn="ctr">
              <a:lnSpc>
                <a:spcPts val="1607"/>
              </a:lnSpc>
            </a:pPr>
            <a:r>
              <a:rPr lang="en-US" sz="1392" b="1" spc="2"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(3GN23IS007) (3GN23IS023) </a:t>
            </a:r>
          </a:p>
        </p:txBody>
      </p:sp>
      <p:sp>
        <p:nvSpPr>
          <p:cNvPr id="20" name="TextBox 20"/>
          <p:cNvSpPr txBox="1"/>
          <p:nvPr/>
        </p:nvSpPr>
        <p:spPr>
          <a:xfrm>
            <a:off x="2116198" y="7320382"/>
            <a:ext cx="35757" cy="166712"/>
          </a:xfrm>
          <a:prstGeom prst="rect">
            <a:avLst/>
          </a:prstGeom>
        </p:spPr>
        <p:txBody>
          <a:bodyPr lIns="0" tIns="0" rIns="0" bIns="0" rtlCol="0" anchor="t">
            <a:spAutoFit/>
          </a:bodyPr>
          <a:lstStyle/>
          <a:p>
            <a:pPr algn="l">
              <a:lnSpc>
                <a:spcPts val="1272"/>
              </a:lnSpc>
            </a:pPr>
            <a:r>
              <a:rPr lang="en-US" sz="1103">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21" name="TextBox 21"/>
          <p:cNvSpPr txBox="1"/>
          <p:nvPr/>
        </p:nvSpPr>
        <p:spPr>
          <a:xfrm>
            <a:off x="1018337" y="7484402"/>
            <a:ext cx="5674833" cy="626688"/>
          </a:xfrm>
          <a:prstGeom prst="rect">
            <a:avLst/>
          </a:prstGeom>
        </p:spPr>
        <p:txBody>
          <a:bodyPr lIns="0" tIns="0" rIns="0" bIns="0" rtlCol="0" anchor="t">
            <a:spAutoFit/>
          </a:bodyPr>
          <a:lstStyle/>
          <a:p>
            <a:pPr algn="ctr">
              <a:lnSpc>
                <a:spcPts val="1604"/>
              </a:lnSpc>
            </a:pPr>
            <a:r>
              <a:rPr lang="en-US" sz="1392" b="1" spc="5">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DEPARTMENT OF INFORMATION SCIENCE AND ENGINEERING GURU NANAK DEV ENGINEERING COLLEGE BIDAR MAILOOR ROAD, BIDAR-585403, KARNATAKA </a:t>
            </a:r>
          </a:p>
        </p:txBody>
      </p:sp>
      <p:sp>
        <p:nvSpPr>
          <p:cNvPr id="22" name="TextBox 22"/>
          <p:cNvSpPr txBox="1"/>
          <p:nvPr/>
        </p:nvSpPr>
        <p:spPr>
          <a:xfrm>
            <a:off x="2845051" y="8097307"/>
            <a:ext cx="1900095" cy="205184"/>
          </a:xfrm>
          <a:prstGeom prst="rect">
            <a:avLst/>
          </a:prstGeom>
        </p:spPr>
        <p:txBody>
          <a:bodyPr lIns="0" tIns="0" rIns="0" bIns="0" rtlCol="0" anchor="t">
            <a:spAutoFit/>
          </a:bodyPr>
          <a:lstStyle/>
          <a:p>
            <a:pPr algn="l">
              <a:lnSpc>
                <a:spcPts val="1604"/>
              </a:lnSpc>
            </a:pPr>
            <a:r>
              <a:rPr lang="en-US" sz="1392" b="1" spc="2">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Academic Year: 2025-26</a:t>
            </a:r>
          </a:p>
        </p:txBody>
      </p:sp>
      <p:sp>
        <p:nvSpPr>
          <p:cNvPr id="23" name="TextBox 23"/>
          <p:cNvSpPr txBox="1"/>
          <p:nvPr/>
        </p:nvSpPr>
        <p:spPr>
          <a:xfrm>
            <a:off x="3091939" y="8299866"/>
            <a:ext cx="38862" cy="179536"/>
          </a:xfrm>
          <a:prstGeom prst="rect">
            <a:avLst/>
          </a:prstGeom>
        </p:spPr>
        <p:txBody>
          <a:bodyPr lIns="0" tIns="0" rIns="0" bIns="0" rtlCol="0" anchor="t">
            <a:spAutoFit/>
          </a:bodyPr>
          <a:lstStyle/>
          <a:p>
            <a:pPr algn="l">
              <a:lnSpc>
                <a:spcPts val="1383"/>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55363" y="3256150"/>
            <a:ext cx="1411862" cy="18288"/>
          </a:xfrm>
          <a:custGeom>
            <a:avLst/>
            <a:gdLst/>
            <a:ahLst/>
            <a:cxnLst/>
            <a:rect l="l" t="t" r="r" b="b"/>
            <a:pathLst>
              <a:path w="1411862" h="18288">
                <a:moveTo>
                  <a:pt x="0" y="0"/>
                </a:moveTo>
                <a:lnTo>
                  <a:pt x="1411862" y="0"/>
                </a:lnTo>
                <a:lnTo>
                  <a:pt x="1411862" y="18288"/>
                </a:lnTo>
                <a:lnTo>
                  <a:pt x="0" y="182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grpSp>
        <p:nvGrpSpPr>
          <p:cNvPr id="3" name="Group 3"/>
          <p:cNvGrpSpPr/>
          <p:nvPr/>
        </p:nvGrpSpPr>
        <p:grpSpPr>
          <a:xfrm>
            <a:off x="2590800" y="1472565"/>
            <a:ext cx="2333625" cy="1008507"/>
            <a:chOff x="0" y="0"/>
            <a:chExt cx="3111500" cy="1344676"/>
          </a:xfrm>
        </p:grpSpPr>
        <p:sp>
          <p:nvSpPr>
            <p:cNvPr id="4" name="Freeform 4"/>
            <p:cNvSpPr/>
            <p:nvPr/>
          </p:nvSpPr>
          <p:spPr>
            <a:xfrm>
              <a:off x="0" y="0"/>
              <a:ext cx="3111500" cy="1344676"/>
            </a:xfrm>
            <a:custGeom>
              <a:avLst/>
              <a:gdLst/>
              <a:ahLst/>
              <a:cxnLst/>
              <a:rect l="l" t="t" r="r" b="b"/>
              <a:pathLst>
                <a:path w="3111500" h="1344676">
                  <a:moveTo>
                    <a:pt x="0" y="0"/>
                  </a:moveTo>
                  <a:lnTo>
                    <a:pt x="3111500" y="0"/>
                  </a:lnTo>
                  <a:lnTo>
                    <a:pt x="3111500" y="1344676"/>
                  </a:lnTo>
                  <a:lnTo>
                    <a:pt x="0" y="1344676"/>
                  </a:lnTo>
                  <a:lnTo>
                    <a:pt x="0" y="0"/>
                  </a:lnTo>
                  <a:close/>
                </a:path>
              </a:pathLst>
            </a:custGeom>
            <a:blipFill>
              <a:blip r:embed="rId4"/>
              <a:stretch>
                <a:fillRect b="-113"/>
              </a:stretch>
            </a:blipFill>
          </p:spPr>
          <p:txBody>
            <a:bodyPr/>
            <a:lstStyle/>
            <a:p>
              <a:endParaRPr lang="en-IN">
                <a:latin typeface="Times New Roman" panose="02020603050405020304" pitchFamily="18" charset="0"/>
                <a:cs typeface="Times New Roman" panose="02020603050405020304" pitchFamily="18" charset="0"/>
              </a:endParaRPr>
            </a:p>
          </p:txBody>
        </p:sp>
      </p:grpSp>
      <p:sp>
        <p:nvSpPr>
          <p:cNvPr id="5" name="TextBox 5"/>
          <p:cNvSpPr txBox="1"/>
          <p:nvPr/>
        </p:nvSpPr>
        <p:spPr>
          <a:xfrm>
            <a:off x="3055363" y="2996813"/>
            <a:ext cx="1492044" cy="269497"/>
          </a:xfrm>
          <a:prstGeom prst="rect">
            <a:avLst/>
          </a:prstGeom>
        </p:spPr>
        <p:txBody>
          <a:bodyPr lIns="0" tIns="0" rIns="0" bIns="0" rtlCol="0" anchor="t">
            <a:spAutoFit/>
          </a:bodyPr>
          <a:lstStyle/>
          <a:p>
            <a:pPr algn="l">
              <a:lnSpc>
                <a:spcPts val="2251"/>
              </a:lnSpc>
            </a:pPr>
            <a:r>
              <a:rPr lang="en-US" sz="1607"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CERTIFICATE </a:t>
            </a:r>
          </a:p>
        </p:txBody>
      </p:sp>
      <p:sp>
        <p:nvSpPr>
          <p:cNvPr id="6" name="TextBox 6"/>
          <p:cNvSpPr txBox="1"/>
          <p:nvPr/>
        </p:nvSpPr>
        <p:spPr>
          <a:xfrm>
            <a:off x="1539878" y="838190"/>
            <a:ext cx="4589859" cy="269497"/>
          </a:xfrm>
          <a:prstGeom prst="rect">
            <a:avLst/>
          </a:prstGeom>
        </p:spPr>
        <p:txBody>
          <a:bodyPr lIns="0" tIns="0" rIns="0" bIns="0" rtlCol="0" anchor="t">
            <a:spAutoFit/>
          </a:bodyPr>
          <a:lstStyle/>
          <a:p>
            <a:pPr algn="l">
              <a:lnSpc>
                <a:spcPts val="2251"/>
              </a:lnSpc>
            </a:pPr>
            <a:r>
              <a:rPr lang="en-US" sz="1607"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GURU NANAK DEV ENGINEERING COLLEGE</a:t>
            </a:r>
            <a:r>
              <a:rPr lang="en-US" sz="1607">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7" name="TextBox 7"/>
          <p:cNvSpPr txBox="1"/>
          <p:nvPr/>
        </p:nvSpPr>
        <p:spPr>
          <a:xfrm>
            <a:off x="1372238" y="7281586"/>
            <a:ext cx="1261615" cy="500137"/>
          </a:xfrm>
          <a:prstGeom prst="rect">
            <a:avLst/>
          </a:prstGeom>
        </p:spPr>
        <p:txBody>
          <a:bodyPr lIns="0" tIns="0" rIns="0" bIns="0" rtlCol="0" anchor="t">
            <a:spAutoFit/>
          </a:bodyPr>
          <a:lstStyle/>
          <a:p>
            <a:pPr algn="l">
              <a:lnSpc>
                <a:spcPts val="1311"/>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Signature ofGuide </a:t>
            </a: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Prof. komal</a:t>
            </a:r>
          </a:p>
          <a:p>
            <a:pPr algn="l">
              <a:lnSpc>
                <a:spcPts val="1311"/>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8" name="TextBox 8"/>
          <p:cNvSpPr txBox="1"/>
          <p:nvPr/>
        </p:nvSpPr>
        <p:spPr>
          <a:xfrm>
            <a:off x="2726179" y="1081954"/>
            <a:ext cx="2117303" cy="199542"/>
          </a:xfrm>
          <a:prstGeom prst="rect">
            <a:avLst/>
          </a:prstGeom>
        </p:spPr>
        <p:txBody>
          <a:bodyPr lIns="0" tIns="0" rIns="0" bIns="0" rtlCol="0" anchor="t">
            <a:spAutoFit/>
          </a:bodyPr>
          <a:lstStyle/>
          <a:p>
            <a:pPr algn="l">
              <a:lnSpc>
                <a:spcPts val="1679"/>
              </a:lnSpc>
            </a:pPr>
            <a:r>
              <a:rPr lang="en-US" sz="1200" b="1" spc="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BIDAR-585403,KARNATAKA</a:t>
            </a:r>
          </a:p>
        </p:txBody>
      </p:sp>
      <p:sp>
        <p:nvSpPr>
          <p:cNvPr id="9" name="TextBox 9"/>
          <p:cNvSpPr txBox="1"/>
          <p:nvPr/>
        </p:nvSpPr>
        <p:spPr>
          <a:xfrm>
            <a:off x="1396622" y="2441743"/>
            <a:ext cx="4862674" cy="199542"/>
          </a:xfrm>
          <a:prstGeom prst="rect">
            <a:avLst/>
          </a:prstGeom>
        </p:spPr>
        <p:txBody>
          <a:bodyPr lIns="0" tIns="0" rIns="0" bIns="0" rtlCol="0" anchor="t">
            <a:spAutoFit/>
          </a:bodyPr>
          <a:lstStyle/>
          <a:p>
            <a:pPr algn="l">
              <a:lnSpc>
                <a:spcPts val="1679"/>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DEPARTMENT OF INFORMATION SCIENCE ANDENGINEERING </a:t>
            </a:r>
          </a:p>
        </p:txBody>
      </p:sp>
      <p:sp>
        <p:nvSpPr>
          <p:cNvPr id="10" name="TextBox 10"/>
          <p:cNvSpPr txBox="1"/>
          <p:nvPr/>
        </p:nvSpPr>
        <p:spPr>
          <a:xfrm>
            <a:off x="4994786" y="7281586"/>
            <a:ext cx="1245394" cy="333425"/>
          </a:xfrm>
          <a:prstGeom prst="rect">
            <a:avLst/>
          </a:prstGeom>
        </p:spPr>
        <p:txBody>
          <a:bodyPr lIns="0" tIns="0" rIns="0" bIns="0" rtlCol="0" anchor="t">
            <a:spAutoFit/>
          </a:bodyPr>
          <a:lstStyle/>
          <a:p>
            <a:pPr algn="ctr">
              <a:lnSpc>
                <a:spcPts val="1344"/>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Signature of HOD </a:t>
            </a: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Dr. Masarath B </a:t>
            </a:r>
          </a:p>
        </p:txBody>
      </p:sp>
      <p:sp>
        <p:nvSpPr>
          <p:cNvPr id="11" name="TextBox 11"/>
          <p:cNvSpPr txBox="1"/>
          <p:nvPr/>
        </p:nvSpPr>
        <p:spPr>
          <a:xfrm>
            <a:off x="914705" y="3751488"/>
            <a:ext cx="5873810" cy="2123145"/>
          </a:xfrm>
          <a:prstGeom prst="rect">
            <a:avLst/>
          </a:prstGeom>
        </p:spPr>
        <p:txBody>
          <a:bodyPr lIns="0" tIns="0" rIns="0" bIns="0" rtlCol="0" anchor="t">
            <a:spAutoFit/>
          </a:bodyPr>
          <a:lstStyle/>
          <a:p>
            <a:pPr algn="just">
              <a:lnSpc>
                <a:spcPts val="2076"/>
              </a:lnSpc>
            </a:pPr>
            <a:r>
              <a:rPr lang="en-US" sz="1200" spc="18" dirty="0">
                <a:solidFill>
                  <a:srgbClr val="000000"/>
                </a:solidFill>
                <a:latin typeface="Times New Roman" panose="02020603050405020304" pitchFamily="18" charset="0"/>
                <a:ea typeface="Times New Roman"/>
                <a:cs typeface="Times New Roman" panose="02020603050405020304" pitchFamily="18" charset="0"/>
                <a:sym typeface="Times New Roman"/>
              </a:rPr>
              <a:t>This is to certify that the Report entitled </a:t>
            </a:r>
            <a:r>
              <a:rPr lang="en-US" sz="1200" spc="18" dirty="0">
                <a:solidFill>
                  <a:srgbClr val="002060"/>
                </a:solidFill>
                <a:latin typeface="Times New Roman" panose="02020603050405020304" pitchFamily="18" charset="0"/>
                <a:ea typeface="Times New Roman"/>
                <a:cs typeface="Times New Roman" panose="02020603050405020304" pitchFamily="18" charset="0"/>
                <a:sym typeface="Times New Roman"/>
              </a:rPr>
              <a:t>“</a:t>
            </a:r>
            <a:r>
              <a:rPr lang="en-US" sz="1200" b="1" spc="18"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Phishing Website Detector</a:t>
            </a:r>
            <a:r>
              <a:rPr lang="en-US" sz="1200" spc="18" dirty="0">
                <a:solidFill>
                  <a:srgbClr val="002060"/>
                </a:solidFill>
                <a:latin typeface="Times New Roman" panose="02020603050405020304" pitchFamily="18" charset="0"/>
                <a:ea typeface="Times New Roman"/>
                <a:cs typeface="Times New Roman" panose="02020603050405020304" pitchFamily="18" charset="0"/>
                <a:sym typeface="Times New Roman"/>
              </a:rPr>
              <a:t>”</a:t>
            </a:r>
            <a:r>
              <a:rPr lang="en-US" sz="1200" spc="18" dirty="0">
                <a:solidFill>
                  <a:srgbClr val="000000"/>
                </a:solidFill>
                <a:latin typeface="Times New Roman" panose="02020603050405020304" pitchFamily="18" charset="0"/>
                <a:ea typeface="Times New Roman"/>
                <a:cs typeface="Times New Roman" panose="02020603050405020304" pitchFamily="18" charset="0"/>
                <a:sym typeface="Times New Roman"/>
              </a:rPr>
              <a:t> is a </a:t>
            </a:r>
            <a:r>
              <a:rPr lang="en-US" sz="1200" spc="18" dirty="0" err="1">
                <a:solidFill>
                  <a:srgbClr val="000000"/>
                </a:solidFill>
                <a:latin typeface="Times New Roman" panose="02020603050405020304" pitchFamily="18" charset="0"/>
                <a:ea typeface="Times New Roman"/>
                <a:cs typeface="Times New Roman" panose="02020603050405020304" pitchFamily="18" charset="0"/>
                <a:sym typeface="Times New Roman"/>
              </a:rPr>
              <a:t>bonafide</a:t>
            </a:r>
            <a:r>
              <a:rPr lang="en-US" sz="1200" spc="18" dirty="0">
                <a:solidFill>
                  <a:srgbClr val="000000"/>
                </a:solidFill>
                <a:latin typeface="Times New Roman" panose="02020603050405020304" pitchFamily="18" charset="0"/>
                <a:ea typeface="Times New Roman"/>
                <a:cs typeface="Times New Roman" panose="02020603050405020304" pitchFamily="18" charset="0"/>
                <a:sym typeface="Times New Roman"/>
              </a:rPr>
              <a:t> work carried out </a:t>
            </a:r>
            <a:r>
              <a:rPr lang="en-US" sz="1200" b="1" spc="18"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Aishwarya (3GN23IS007), Mayuri (3GN23IS023)</a:t>
            </a:r>
            <a:r>
              <a:rPr lang="en-US" sz="1200" spc="18" dirty="0">
                <a:solidFill>
                  <a:srgbClr val="000000"/>
                </a:solidFill>
                <a:latin typeface="Times New Roman" panose="02020603050405020304" pitchFamily="18" charset="0"/>
                <a:ea typeface="Times New Roman"/>
                <a:cs typeface="Times New Roman" panose="02020603050405020304" pitchFamily="18" charset="0"/>
                <a:sym typeface="Times New Roman"/>
              </a:rPr>
              <a:t> in practical fulfillment of the requirements for the award of Bachelor of Engineering in </a:t>
            </a:r>
            <a:r>
              <a:rPr lang="en-US" sz="1200" b="1" spc="18"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VI Semester in B.E in Information Science and Engineering of Visvesvaraya Technological University, Belagavi</a:t>
            </a:r>
            <a:r>
              <a:rPr lang="en-US" sz="1200" spc="18" dirty="0">
                <a:solidFill>
                  <a:srgbClr val="000000"/>
                </a:solidFill>
                <a:latin typeface="Times New Roman" panose="02020603050405020304" pitchFamily="18" charset="0"/>
                <a:ea typeface="Times New Roman"/>
                <a:cs typeface="Times New Roman" panose="02020603050405020304" pitchFamily="18" charset="0"/>
                <a:sym typeface="Times New Roman"/>
              </a:rPr>
              <a:t> during the year 2025-26. It is certified that all the corrections/suggestions indicated for Internal Assessment have been incorporated in the synopsis report deposited in the department library. The synopsis report has been approved as it satisfies the academic requirements in respect of major project work prescribed for the said degree.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37787" y="835142"/>
            <a:ext cx="2378488" cy="269497"/>
          </a:xfrm>
          <a:prstGeom prst="rect">
            <a:avLst/>
          </a:prstGeom>
        </p:spPr>
        <p:txBody>
          <a:bodyPr lIns="0" tIns="0" rIns="0" bIns="0" rtlCol="0" anchor="t">
            <a:spAutoFit/>
          </a:bodyPr>
          <a:lstStyle/>
          <a:p>
            <a:pPr algn="l">
              <a:lnSpc>
                <a:spcPts val="2251"/>
              </a:lnSpc>
            </a:pPr>
            <a:r>
              <a:rPr lang="en-US" sz="1607"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ACKNOWLEDGEMENT </a:t>
            </a:r>
          </a:p>
        </p:txBody>
      </p:sp>
      <p:sp>
        <p:nvSpPr>
          <p:cNvPr id="3" name="TextBox 3"/>
          <p:cNvSpPr txBox="1"/>
          <p:nvPr/>
        </p:nvSpPr>
        <p:spPr>
          <a:xfrm>
            <a:off x="3777996" y="6609197"/>
            <a:ext cx="52073" cy="433004"/>
          </a:xfrm>
          <a:prstGeom prst="rect">
            <a:avLst/>
          </a:prstGeom>
        </p:spPr>
        <p:txBody>
          <a:bodyPr lIns="0" tIns="0" rIns="0" bIns="0" rtlCol="0" anchor="t">
            <a:spAutoFit/>
          </a:bodyPr>
          <a:lstStyle/>
          <a:p>
            <a:pPr algn="l">
              <a:lnSpc>
                <a:spcPts val="4019"/>
              </a:lnSpc>
            </a:pPr>
            <a:r>
              <a:rPr lang="en-US" sz="1607"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4" name="TextBox 4"/>
          <p:cNvSpPr txBox="1"/>
          <p:nvPr/>
        </p:nvSpPr>
        <p:spPr>
          <a:xfrm>
            <a:off x="3750564" y="8413871"/>
            <a:ext cx="111147" cy="433004"/>
          </a:xfrm>
          <a:prstGeom prst="rect">
            <a:avLst/>
          </a:prstGeom>
        </p:spPr>
        <p:txBody>
          <a:bodyPr lIns="0" tIns="0" rIns="0" bIns="0" rtlCol="0" anchor="t">
            <a:spAutoFit/>
          </a:bodyPr>
          <a:lstStyle/>
          <a:p>
            <a:pPr algn="l">
              <a:lnSpc>
                <a:spcPts val="4019"/>
              </a:lnSpc>
            </a:pPr>
            <a:r>
              <a:rPr lang="en-US" sz="1607" b="1" spc="9">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i </a:t>
            </a:r>
          </a:p>
        </p:txBody>
      </p:sp>
      <p:sp>
        <p:nvSpPr>
          <p:cNvPr id="5" name="TextBox 5"/>
          <p:cNvSpPr txBox="1"/>
          <p:nvPr/>
        </p:nvSpPr>
        <p:spPr>
          <a:xfrm>
            <a:off x="4859922" y="5830343"/>
            <a:ext cx="729310" cy="266868"/>
          </a:xfrm>
          <a:prstGeom prst="rect">
            <a:avLst/>
          </a:prstGeom>
        </p:spPr>
        <p:txBody>
          <a:bodyPr lIns="0" tIns="0" rIns="0" bIns="0" rtlCol="0" anchor="t">
            <a:spAutoFit/>
          </a:bodyPr>
          <a:lstStyle/>
          <a:p>
            <a:pPr algn="l">
              <a:lnSpc>
                <a:spcPts val="2376"/>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1. Mayuri </a:t>
            </a:r>
          </a:p>
        </p:txBody>
      </p:sp>
      <p:sp>
        <p:nvSpPr>
          <p:cNvPr id="6" name="TextBox 6"/>
          <p:cNvSpPr txBox="1"/>
          <p:nvPr/>
        </p:nvSpPr>
        <p:spPr>
          <a:xfrm>
            <a:off x="5808107" y="5830343"/>
            <a:ext cx="987485" cy="266868"/>
          </a:xfrm>
          <a:prstGeom prst="rect">
            <a:avLst/>
          </a:prstGeom>
        </p:spPr>
        <p:txBody>
          <a:bodyPr lIns="0" tIns="0" rIns="0" bIns="0" rtlCol="0" anchor="t">
            <a:spAutoFit/>
          </a:bodyPr>
          <a:lstStyle/>
          <a:p>
            <a:pPr algn="l">
              <a:lnSpc>
                <a:spcPts val="2376"/>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(3GN23IS023) </a:t>
            </a:r>
          </a:p>
        </p:txBody>
      </p:sp>
      <p:sp>
        <p:nvSpPr>
          <p:cNvPr id="7" name="TextBox 7"/>
          <p:cNvSpPr txBox="1"/>
          <p:nvPr/>
        </p:nvSpPr>
        <p:spPr>
          <a:xfrm>
            <a:off x="4856874" y="6132095"/>
            <a:ext cx="1939080" cy="266868"/>
          </a:xfrm>
          <a:prstGeom prst="rect">
            <a:avLst/>
          </a:prstGeom>
        </p:spPr>
        <p:txBody>
          <a:bodyPr lIns="0" tIns="0" rIns="0" bIns="0" rtlCol="0" anchor="t">
            <a:spAutoFit/>
          </a:bodyPr>
          <a:lstStyle/>
          <a:p>
            <a:pPr algn="l">
              <a:lnSpc>
                <a:spcPts val="2376"/>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2. Aishwarya (3GN23IS007) </a:t>
            </a:r>
          </a:p>
        </p:txBody>
      </p:sp>
      <p:sp>
        <p:nvSpPr>
          <p:cNvPr id="8" name="TextBox 8"/>
          <p:cNvSpPr txBox="1"/>
          <p:nvPr/>
        </p:nvSpPr>
        <p:spPr>
          <a:xfrm>
            <a:off x="914705" y="1528867"/>
            <a:ext cx="5881249" cy="1045359"/>
          </a:xfrm>
          <a:prstGeom prst="rect">
            <a:avLst/>
          </a:prstGeom>
        </p:spPr>
        <p:txBody>
          <a:bodyPr lIns="0" tIns="0" rIns="0" bIns="0" rtlCol="0" anchor="t">
            <a:spAutoFit/>
          </a:bodyPr>
          <a:lstStyle/>
          <a:p>
            <a:pPr algn="just">
              <a:lnSpc>
                <a:spcPts val="2064"/>
              </a:lnSpc>
            </a:pPr>
            <a:r>
              <a:rPr lang="en-US" sz="1200" spc="1">
                <a:solidFill>
                  <a:srgbClr val="000000"/>
                </a:solidFill>
                <a:latin typeface="Times New Roman" panose="02020603050405020304" pitchFamily="18" charset="0"/>
                <a:ea typeface="Times New Roman"/>
                <a:cs typeface="Times New Roman" panose="02020603050405020304" pitchFamily="18" charset="0"/>
                <a:sym typeface="Times New Roman"/>
              </a:rPr>
              <a:t>The major project report on </a:t>
            </a:r>
            <a:r>
              <a:rPr lang="en-US" sz="1200" b="1" spc="1">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“Phishing Website Detector”</a:t>
            </a:r>
            <a:r>
              <a:rPr lang="en-US" sz="1200" spc="1">
                <a:solidFill>
                  <a:srgbClr val="000000"/>
                </a:solidFill>
                <a:latin typeface="Times New Roman" panose="02020603050405020304" pitchFamily="18" charset="0"/>
                <a:ea typeface="Times New Roman"/>
                <a:cs typeface="Times New Roman" panose="02020603050405020304" pitchFamily="18" charset="0"/>
                <a:sym typeface="Times New Roman"/>
              </a:rPr>
              <a:t> is the outcome of guidance, moral support and devotion bestowed onus throughout our work. Fort this we acknowledge and express out profound sense of gratitude and thanks to everybody who have been a source of inspiration during the project work </a:t>
            </a:r>
          </a:p>
        </p:txBody>
      </p:sp>
      <p:sp>
        <p:nvSpPr>
          <p:cNvPr id="9" name="TextBox 9"/>
          <p:cNvSpPr txBox="1"/>
          <p:nvPr/>
        </p:nvSpPr>
        <p:spPr>
          <a:xfrm>
            <a:off x="914705" y="3098835"/>
            <a:ext cx="5883135" cy="1853841"/>
          </a:xfrm>
          <a:prstGeom prst="rect">
            <a:avLst/>
          </a:prstGeom>
        </p:spPr>
        <p:txBody>
          <a:bodyPr lIns="0" tIns="0" rIns="0" bIns="0" rtlCol="0" anchor="t">
            <a:spAutoFit/>
          </a:bodyPr>
          <a:lstStyle/>
          <a:p>
            <a:pPr algn="just">
              <a:lnSpc>
                <a:spcPts val="2072"/>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First and foremost, we offer our sincere phrases of thanks with innate humility to our Principal </a:t>
            </a:r>
            <a:r>
              <a:rPr lang="en-US" sz="1200" b="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Dr.Veena</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S</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who has been a constant source of support and encouragement. We feel deeply indebted to our H.O.D </a:t>
            </a:r>
            <a:r>
              <a:rPr lang="en-US" sz="1200" b="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Dr.Masarath</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B</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for right help provided from the time of inception till date. I would take this opportunity to acknowledge our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Prof. Komal </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who not only stood by us as a source of inspiration, but also dedicated his time to enable us to present the project on time. We would be failing in Endeavour, if we do not thank our Co-</a:t>
            </a:r>
            <a:r>
              <a:rPr lang="en-US" sz="1200" dirty="0" err="1">
                <a:solidFill>
                  <a:srgbClr val="000000"/>
                </a:solidFill>
                <a:latin typeface="Times New Roman" panose="02020603050405020304" pitchFamily="18" charset="0"/>
                <a:ea typeface="Times New Roman"/>
                <a:cs typeface="Times New Roman" panose="02020603050405020304" pitchFamily="18" charset="0"/>
                <a:sym typeface="Times New Roman"/>
              </a:rPr>
              <a:t>ordinator</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Prof. </a:t>
            </a:r>
            <a:r>
              <a:rPr lang="en-US" sz="1200" b="1" dirty="0" err="1">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Sangameshwar</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K</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who have helped us in every aspect of our work.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704" y="8218993"/>
            <a:ext cx="407584" cy="199542"/>
          </a:xfrm>
          <a:prstGeom prst="rect">
            <a:avLst/>
          </a:prstGeom>
        </p:spPr>
        <p:txBody>
          <a:bodyPr lIns="0" tIns="0" rIns="0" bIns="0" rtlCol="0" anchor="t">
            <a:spAutoFit/>
          </a:bodyPr>
          <a:lstStyle/>
          <a:p>
            <a:pPr algn="l">
              <a:lnSpc>
                <a:spcPts val="1679"/>
              </a:lnSpc>
            </a:pPr>
            <a:r>
              <a:rPr lang="en-US" sz="1200" b="1" spc="2"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Guide</a:t>
            </a:r>
          </a:p>
        </p:txBody>
      </p:sp>
      <p:sp>
        <p:nvSpPr>
          <p:cNvPr id="3" name="TextBox 3"/>
          <p:cNvSpPr txBox="1"/>
          <p:nvPr/>
        </p:nvSpPr>
        <p:spPr>
          <a:xfrm>
            <a:off x="914705" y="7237771"/>
            <a:ext cx="1746275" cy="199542"/>
          </a:xfrm>
          <a:prstGeom prst="rect">
            <a:avLst/>
          </a:prstGeom>
        </p:spPr>
        <p:txBody>
          <a:bodyPr lIns="0" tIns="0" rIns="0" bIns="0" rtlCol="0" anchor="t">
            <a:spAutoFit/>
          </a:bodyPr>
          <a:lstStyle/>
          <a:p>
            <a:pPr algn="l">
              <a:lnSpc>
                <a:spcPts val="1679"/>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Signature along with date </a:t>
            </a:r>
          </a:p>
        </p:txBody>
      </p:sp>
      <p:sp>
        <p:nvSpPr>
          <p:cNvPr id="4" name="TextBox 4"/>
          <p:cNvSpPr txBox="1"/>
          <p:nvPr/>
        </p:nvSpPr>
        <p:spPr>
          <a:xfrm>
            <a:off x="914704" y="1104052"/>
            <a:ext cx="1164897"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1. Abstract </a:t>
            </a:r>
          </a:p>
        </p:txBody>
      </p:sp>
      <p:sp>
        <p:nvSpPr>
          <p:cNvPr id="5" name="TextBox 5"/>
          <p:cNvSpPr txBox="1"/>
          <p:nvPr/>
        </p:nvSpPr>
        <p:spPr>
          <a:xfrm>
            <a:off x="914704" y="1494577"/>
            <a:ext cx="1263345"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2. Introduction </a:t>
            </a:r>
          </a:p>
        </p:txBody>
      </p:sp>
      <p:sp>
        <p:nvSpPr>
          <p:cNvPr id="6" name="TextBox 6"/>
          <p:cNvSpPr txBox="1"/>
          <p:nvPr/>
        </p:nvSpPr>
        <p:spPr>
          <a:xfrm>
            <a:off x="914705" y="1884721"/>
            <a:ext cx="1164896"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 Objective </a:t>
            </a:r>
          </a:p>
        </p:txBody>
      </p:sp>
      <p:sp>
        <p:nvSpPr>
          <p:cNvPr id="7" name="TextBox 7"/>
          <p:cNvSpPr txBox="1"/>
          <p:nvPr/>
        </p:nvSpPr>
        <p:spPr>
          <a:xfrm>
            <a:off x="914704" y="2274865"/>
            <a:ext cx="1949145"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4. Scope of Project </a:t>
            </a:r>
          </a:p>
        </p:txBody>
      </p:sp>
      <p:sp>
        <p:nvSpPr>
          <p:cNvPr id="8" name="TextBox 8"/>
          <p:cNvSpPr txBox="1"/>
          <p:nvPr/>
        </p:nvSpPr>
        <p:spPr>
          <a:xfrm>
            <a:off x="914705" y="2665257"/>
            <a:ext cx="1659226"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5. Existing System </a:t>
            </a:r>
          </a:p>
        </p:txBody>
      </p:sp>
      <p:sp>
        <p:nvSpPr>
          <p:cNvPr id="9" name="TextBox 9"/>
          <p:cNvSpPr txBox="1"/>
          <p:nvPr/>
        </p:nvSpPr>
        <p:spPr>
          <a:xfrm>
            <a:off x="914705" y="3055401"/>
            <a:ext cx="1743170"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6. Disadvantages </a:t>
            </a:r>
          </a:p>
        </p:txBody>
      </p:sp>
      <p:sp>
        <p:nvSpPr>
          <p:cNvPr id="10" name="TextBox 10"/>
          <p:cNvSpPr txBox="1"/>
          <p:nvPr/>
        </p:nvSpPr>
        <p:spPr>
          <a:xfrm>
            <a:off x="914705" y="3445926"/>
            <a:ext cx="1659226"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7. Proposed System </a:t>
            </a:r>
          </a:p>
        </p:txBody>
      </p:sp>
      <p:sp>
        <p:nvSpPr>
          <p:cNvPr id="11" name="TextBox 11"/>
          <p:cNvSpPr txBox="1"/>
          <p:nvPr/>
        </p:nvSpPr>
        <p:spPr>
          <a:xfrm>
            <a:off x="914705" y="3836070"/>
            <a:ext cx="2101545"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8. Advantages </a:t>
            </a:r>
          </a:p>
        </p:txBody>
      </p:sp>
      <p:sp>
        <p:nvSpPr>
          <p:cNvPr id="12" name="TextBox 12"/>
          <p:cNvSpPr txBox="1"/>
          <p:nvPr/>
        </p:nvSpPr>
        <p:spPr>
          <a:xfrm>
            <a:off x="914705" y="4226214"/>
            <a:ext cx="1949144"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9. Project Outcome </a:t>
            </a:r>
          </a:p>
        </p:txBody>
      </p:sp>
      <p:sp>
        <p:nvSpPr>
          <p:cNvPr id="13" name="TextBox 13"/>
          <p:cNvSpPr txBox="1"/>
          <p:nvPr/>
        </p:nvSpPr>
        <p:spPr>
          <a:xfrm>
            <a:off x="914705" y="4616615"/>
            <a:ext cx="2482545"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10. System Requirements: </a:t>
            </a:r>
          </a:p>
        </p:txBody>
      </p:sp>
      <p:sp>
        <p:nvSpPr>
          <p:cNvPr id="14" name="TextBox 14"/>
          <p:cNvSpPr txBox="1"/>
          <p:nvPr/>
        </p:nvSpPr>
        <p:spPr>
          <a:xfrm>
            <a:off x="914704" y="5003711"/>
            <a:ext cx="2482545"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11. Hardware Requirements: </a:t>
            </a:r>
          </a:p>
        </p:txBody>
      </p:sp>
      <p:sp>
        <p:nvSpPr>
          <p:cNvPr id="15" name="TextBox 15"/>
          <p:cNvSpPr txBox="1"/>
          <p:nvPr/>
        </p:nvSpPr>
        <p:spPr>
          <a:xfrm>
            <a:off x="914705" y="5393855"/>
            <a:ext cx="2286962"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12. Software Requirements: </a:t>
            </a:r>
          </a:p>
        </p:txBody>
      </p:sp>
      <p:sp>
        <p:nvSpPr>
          <p:cNvPr id="16" name="TextBox 16"/>
          <p:cNvSpPr txBox="1"/>
          <p:nvPr/>
        </p:nvSpPr>
        <p:spPr>
          <a:xfrm>
            <a:off x="914705" y="5784256"/>
            <a:ext cx="1659226"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13. Conclusion </a:t>
            </a:r>
          </a:p>
        </p:txBody>
      </p:sp>
      <p:sp>
        <p:nvSpPr>
          <p:cNvPr id="17" name="TextBox 17"/>
          <p:cNvSpPr txBox="1"/>
          <p:nvPr/>
        </p:nvSpPr>
        <p:spPr>
          <a:xfrm>
            <a:off x="914705" y="6174400"/>
            <a:ext cx="1659226" cy="324576"/>
          </a:xfrm>
          <a:prstGeom prst="rect">
            <a:avLst/>
          </a:prstGeom>
        </p:spPr>
        <p:txBody>
          <a:bodyPr wrap="square"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14. References </a:t>
            </a:r>
          </a:p>
        </p:txBody>
      </p:sp>
      <p:sp>
        <p:nvSpPr>
          <p:cNvPr id="18" name="TextBox 18"/>
          <p:cNvSpPr txBox="1"/>
          <p:nvPr/>
        </p:nvSpPr>
        <p:spPr>
          <a:xfrm>
            <a:off x="728769" y="637786"/>
            <a:ext cx="1606807" cy="205634"/>
          </a:xfrm>
          <a:prstGeom prst="rect">
            <a:avLst/>
          </a:prstGeom>
        </p:spPr>
        <p:txBody>
          <a:bodyPr wrap="square" lIns="0" tIns="0" rIns="0" bIns="0" rtlCol="0" anchor="t">
            <a:spAutoFit/>
          </a:bodyPr>
          <a:lstStyle/>
          <a:p>
            <a:pPr algn="l">
              <a:lnSpc>
                <a:spcPts val="1679"/>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Project Synopsis </a:t>
            </a:r>
          </a:p>
        </p:txBody>
      </p:sp>
      <p:sp>
        <p:nvSpPr>
          <p:cNvPr id="19" name="TextBox 19"/>
          <p:cNvSpPr txBox="1"/>
          <p:nvPr/>
        </p:nvSpPr>
        <p:spPr>
          <a:xfrm>
            <a:off x="3201667" y="8218993"/>
            <a:ext cx="1351931"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Project Coordinator</a:t>
            </a:r>
          </a:p>
        </p:txBody>
      </p:sp>
      <p:sp>
        <p:nvSpPr>
          <p:cNvPr id="20" name="TextBox 20"/>
          <p:cNvSpPr txBox="1"/>
          <p:nvPr/>
        </p:nvSpPr>
        <p:spPr>
          <a:xfrm>
            <a:off x="5958987" y="8218993"/>
            <a:ext cx="682809" cy="199542"/>
          </a:xfrm>
          <a:prstGeom prst="rect">
            <a:avLst/>
          </a:prstGeom>
        </p:spPr>
        <p:txBody>
          <a:bodyPr lIns="0" tIns="0" rIns="0" bIns="0" rtlCol="0" anchor="t">
            <a:spAutoFit/>
          </a:bodyPr>
          <a:lstStyle/>
          <a:p>
            <a:pPr algn="l">
              <a:lnSpc>
                <a:spcPts val="1679"/>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HOD ISE</a:t>
            </a: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7689847"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1154567" y="411943"/>
            <a:ext cx="5757015" cy="188450"/>
          </a:xfrm>
          <a:prstGeom prst="rect">
            <a:avLst/>
          </a:prstGeom>
        </p:spPr>
        <p:txBody>
          <a:bodyPr lIns="0" tIns="0" rIns="0" bIns="0" rtlCol="0" anchor="t">
            <a:spAutoFit/>
          </a:bodyPr>
          <a:lstStyle/>
          <a:p>
            <a:pPr algn="l">
              <a:lnSpc>
                <a:spcPts val="1609"/>
              </a:lnSpc>
            </a:pPr>
            <a:r>
              <a:rPr lang="en-US" sz="1150" b="1" dirty="0">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914400" y="3214516"/>
            <a:ext cx="785670" cy="234423"/>
          </a:xfrm>
          <a:prstGeom prst="rect">
            <a:avLst/>
          </a:prstGeom>
        </p:spPr>
        <p:txBody>
          <a:bodyPr lIns="0" tIns="0" rIns="0" bIns="0" rtlCol="0" anchor="t">
            <a:spAutoFit/>
          </a:bodyPr>
          <a:lstStyle/>
          <a:p>
            <a:pPr algn="l">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Abstract </a:t>
            </a:r>
          </a:p>
        </p:txBody>
      </p:sp>
      <p:sp>
        <p:nvSpPr>
          <p:cNvPr id="5" name="TextBox 5"/>
          <p:cNvSpPr txBox="1"/>
          <p:nvPr/>
        </p:nvSpPr>
        <p:spPr>
          <a:xfrm>
            <a:off x="914400" y="8175403"/>
            <a:ext cx="1107472" cy="234423"/>
          </a:xfrm>
          <a:prstGeom prst="rect">
            <a:avLst/>
          </a:prstGeom>
        </p:spPr>
        <p:txBody>
          <a:bodyPr lIns="0" tIns="0" rIns="0" bIns="0" rtlCol="0" anchor="t">
            <a:spAutoFit/>
          </a:bodyPr>
          <a:lstStyle/>
          <a:p>
            <a:pPr algn="l">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Introduction </a:t>
            </a:r>
          </a:p>
        </p:txBody>
      </p:sp>
      <p:sp>
        <p:nvSpPr>
          <p:cNvPr id="6" name="TextBox 6"/>
          <p:cNvSpPr txBox="1"/>
          <p:nvPr/>
        </p:nvSpPr>
        <p:spPr>
          <a:xfrm>
            <a:off x="897890" y="1126655"/>
            <a:ext cx="6582445" cy="243656"/>
          </a:xfrm>
          <a:prstGeom prst="rect">
            <a:avLst/>
          </a:prstGeom>
        </p:spPr>
        <p:txBody>
          <a:bodyPr wrap="square" lIns="0" tIns="0" rIns="0" bIns="0" rtlCol="0" anchor="t">
            <a:spAutoFit/>
          </a:bodyPr>
          <a:lstStyle/>
          <a:p>
            <a:pPr algn="l">
              <a:lnSpc>
                <a:spcPts val="1850"/>
              </a:lnSpc>
            </a:pPr>
            <a:r>
              <a:rPr lang="en-US" sz="1600" b="1" dirty="0">
                <a:solidFill>
                  <a:srgbClr val="000000"/>
                </a:solidFill>
                <a:latin typeface="Times New Roman" panose="02020603050405020304" pitchFamily="18" charset="0"/>
                <a:ea typeface="Arial Bold"/>
                <a:cs typeface="Times New Roman" panose="02020603050405020304" pitchFamily="18" charset="0"/>
                <a:sym typeface="Arial Bold"/>
              </a:rPr>
              <a:t>Title: Advanced AI-Based Phishing Website Detection System with </a:t>
            </a:r>
          </a:p>
        </p:txBody>
      </p:sp>
      <p:sp>
        <p:nvSpPr>
          <p:cNvPr id="7" name="TextBox 7"/>
          <p:cNvSpPr txBox="1"/>
          <p:nvPr/>
        </p:nvSpPr>
        <p:spPr>
          <a:xfrm>
            <a:off x="2965209" y="1394974"/>
            <a:ext cx="1712566" cy="243656"/>
          </a:xfrm>
          <a:prstGeom prst="rect">
            <a:avLst/>
          </a:prstGeom>
        </p:spPr>
        <p:txBody>
          <a:bodyPr lIns="0" tIns="0" rIns="0" bIns="0" rtlCol="0" anchor="t">
            <a:spAutoFit/>
          </a:bodyPr>
          <a:lstStyle/>
          <a:p>
            <a:pPr algn="l">
              <a:lnSpc>
                <a:spcPts val="1850"/>
              </a:lnSpc>
            </a:pPr>
            <a:r>
              <a:rPr lang="en-US" sz="1600" b="1" dirty="0">
                <a:solidFill>
                  <a:srgbClr val="000000"/>
                </a:solidFill>
                <a:latin typeface="Times New Roman" panose="02020603050405020304" pitchFamily="18" charset="0"/>
                <a:ea typeface="Arial Bold"/>
                <a:cs typeface="Times New Roman" panose="02020603050405020304" pitchFamily="18" charset="0"/>
                <a:sym typeface="Arial Bold"/>
              </a:rPr>
              <a:t>Real-time Analysis. </a:t>
            </a:r>
          </a:p>
        </p:txBody>
      </p:sp>
      <p:sp>
        <p:nvSpPr>
          <p:cNvPr id="8" name="TextBox 8"/>
          <p:cNvSpPr txBox="1"/>
          <p:nvPr/>
        </p:nvSpPr>
        <p:spPr>
          <a:xfrm>
            <a:off x="1700070" y="1669961"/>
            <a:ext cx="4814430" cy="378693"/>
          </a:xfrm>
          <a:prstGeom prst="rect">
            <a:avLst/>
          </a:prstGeom>
        </p:spPr>
        <p:txBody>
          <a:bodyPr lIns="0" tIns="0" rIns="0" bIns="0" rtlCol="0" anchor="t">
            <a:spAutoFit/>
          </a:bodyPr>
          <a:lstStyle/>
          <a:p>
            <a:pPr algn="l">
              <a:lnSpc>
                <a:spcPts val="349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Broad Area: Artificial Intelligence and Machine learning </a:t>
            </a:r>
          </a:p>
        </p:txBody>
      </p:sp>
      <p:sp>
        <p:nvSpPr>
          <p:cNvPr id="9" name="TextBox 9"/>
          <p:cNvSpPr txBox="1"/>
          <p:nvPr/>
        </p:nvSpPr>
        <p:spPr>
          <a:xfrm>
            <a:off x="2834507" y="2624147"/>
            <a:ext cx="2000793" cy="329386"/>
          </a:xfrm>
          <a:prstGeom prst="rect">
            <a:avLst/>
          </a:prstGeom>
        </p:spPr>
        <p:txBody>
          <a:bodyPr lIns="0" tIns="0" rIns="0" bIns="0" rtlCol="0" anchor="t">
            <a:spAutoFit/>
          </a:bodyPr>
          <a:lstStyle/>
          <a:p>
            <a:pPr algn="l">
              <a:lnSpc>
                <a:spcPts val="2800"/>
              </a:lnSpc>
            </a:pPr>
            <a:r>
              <a:rPr lang="en-US" sz="2000" dirty="0">
                <a:solidFill>
                  <a:srgbClr val="000000"/>
                </a:solidFill>
                <a:latin typeface="Times New Roman" panose="02020603050405020304" pitchFamily="18" charset="0"/>
                <a:ea typeface="Arial"/>
                <a:cs typeface="Times New Roman" panose="02020603050405020304" pitchFamily="18" charset="0"/>
                <a:sym typeface="Arial"/>
              </a:rPr>
              <a:t>Project Synopsis </a:t>
            </a:r>
          </a:p>
        </p:txBody>
      </p:sp>
      <p:sp>
        <p:nvSpPr>
          <p:cNvPr id="10" name="TextBox 10"/>
          <p:cNvSpPr txBox="1"/>
          <p:nvPr/>
        </p:nvSpPr>
        <p:spPr>
          <a:xfrm>
            <a:off x="914400" y="8612848"/>
            <a:ext cx="5820613" cy="1062214"/>
          </a:xfrm>
          <a:prstGeom prst="rect">
            <a:avLst/>
          </a:prstGeom>
        </p:spPr>
        <p:txBody>
          <a:bodyPr lIns="0" tIns="0" rIns="0" bIns="0" rtlCol="0" anchor="t">
            <a:spAutoFit/>
          </a:bodyPr>
          <a:lstStyle/>
          <a:p>
            <a:pPr algn="l">
              <a:lnSpc>
                <a:spcPts val="2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1.1 Background The internet has become an indispensable part of modern civilization — from online </a:t>
            </a:r>
          </a:p>
          <a:p>
            <a:pPr algn="l">
              <a:lnSpc>
                <a:spcPts val="14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banking and e-commerce to healthcare records and government services. This </a:t>
            </a:r>
          </a:p>
          <a:p>
            <a:pPr algn="l">
              <a:lnSpc>
                <a:spcPts val="1454"/>
              </a:lnSpc>
            </a:pPr>
            <a:r>
              <a:rPr lang="en-US" sz="1100" b="1" dirty="0">
                <a:solidFill>
                  <a:srgbClr val="000000"/>
                </a:solidFill>
                <a:latin typeface="Times New Roman" panose="02020603050405020304" pitchFamily="18" charset="0"/>
                <a:ea typeface="Arial Bold"/>
                <a:cs typeface="Times New Roman" panose="02020603050405020304" pitchFamily="18" charset="0"/>
                <a:sym typeface="Arial Bold"/>
              </a:rPr>
              <a:t>_________________________________________________________________________ </a:t>
            </a:r>
          </a:p>
        </p:txBody>
      </p:sp>
      <p:sp>
        <p:nvSpPr>
          <p:cNvPr id="11" name="TextBox 11"/>
          <p:cNvSpPr txBox="1"/>
          <p:nvPr/>
        </p:nvSpPr>
        <p:spPr>
          <a:xfrm>
            <a:off x="914400" y="3582516"/>
            <a:ext cx="5528415" cy="2736775"/>
          </a:xfrm>
          <a:prstGeom prst="rect">
            <a:avLst/>
          </a:prstGeom>
        </p:spPr>
        <p:txBody>
          <a:bodyPr wrap="square" lIns="0" tIns="0" rIns="0" bIns="0" rtlCol="0" anchor="t">
            <a:spAutoFit/>
          </a:bodyPr>
          <a:lstStyle/>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The surge in internet usage has fueled a dramatic rise in cybercrime, with phishing attacks being a major threat. These attacks use fraudulent websites mimicking legitimate entities to steal sensitive user data (passwords, credit cards). Traditional rule-based or blacklist detection methods are now inadequate against sophisticated phishing. This project proposes an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using Machine Learning for real-time, high-accuracy identification. Unlike conventional detectors, it employs a multi-layered feature analysis: </a:t>
            </a:r>
          </a:p>
          <a:p>
            <a:pPr algn="just">
              <a:lnSpc>
                <a:spcPct val="150000"/>
              </a:lnSpc>
            </a:pP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 </a:t>
            </a:r>
          </a:p>
          <a:p>
            <a:pPr algn="just">
              <a:lnSpc>
                <a:spcPct val="15000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a:t>
            </a:r>
          </a:p>
        </p:txBody>
      </p:sp>
      <p:sp>
        <p:nvSpPr>
          <p:cNvPr id="15" name="TextBox 15"/>
          <p:cNvSpPr txBox="1"/>
          <p:nvPr/>
        </p:nvSpPr>
        <p:spPr>
          <a:xfrm>
            <a:off x="1142999" y="5945400"/>
            <a:ext cx="5592014" cy="796821"/>
          </a:xfrm>
          <a:prstGeom prst="rect">
            <a:avLst/>
          </a:prstGeom>
        </p:spPr>
        <p:txBody>
          <a:bodyPr wrap="square" lIns="0" tIns="0" rIns="0" bIns="0" rtlCol="0" anchor="t">
            <a:spAutoFit/>
          </a:bodyPr>
          <a:lstStyle/>
          <a:p>
            <a:pPr>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URL-Based Analysis: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Examines structural features like length, special characters, subdomains, and IP address usage. </a:t>
            </a:r>
          </a:p>
          <a:p>
            <a:pPr algn="l">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a:t>
            </a:r>
          </a:p>
        </p:txBody>
      </p:sp>
      <p:sp>
        <p:nvSpPr>
          <p:cNvPr id="17" name="TextBox 17"/>
          <p:cNvSpPr txBox="1"/>
          <p:nvPr/>
        </p:nvSpPr>
        <p:spPr>
          <a:xfrm>
            <a:off x="1143000" y="6471133"/>
            <a:ext cx="5053955"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2.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Domain-Based Analysis: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Evaluates domain age, WHOIS data, DNS </a:t>
            </a:r>
          </a:p>
        </p:txBody>
      </p:sp>
      <p:sp>
        <p:nvSpPr>
          <p:cNvPr id="18" name="TextBox 18"/>
          <p:cNvSpPr txBox="1"/>
          <p:nvPr/>
        </p:nvSpPr>
        <p:spPr>
          <a:xfrm>
            <a:off x="1371600" y="6914979"/>
            <a:ext cx="3795874" cy="170202"/>
          </a:xfrm>
          <a:prstGeom prst="rect">
            <a:avLst/>
          </a:prstGeom>
        </p:spPr>
        <p:txBody>
          <a:bodyPr lIns="0" tIns="0" rIns="0" bIns="0" rtlCol="0" anchor="t">
            <a:spAutoFit/>
          </a:bodyPr>
          <a:lstStyle/>
          <a:p>
            <a:pPr algn="l">
              <a:lnSpc>
                <a:spcPts val="1139"/>
              </a:lnSpc>
            </a:pPr>
            <a:r>
              <a:rPr lang="en-US" sz="1200">
                <a:solidFill>
                  <a:srgbClr val="000000"/>
                </a:solidFill>
                <a:latin typeface="Arial"/>
                <a:ea typeface="Arial"/>
                <a:cs typeface="Arial"/>
                <a:sym typeface="Arial"/>
              </a:rPr>
              <a:t>integrity, SSL certificate validity, and reputation scores. </a:t>
            </a:r>
          </a:p>
        </p:txBody>
      </p:sp>
      <p:sp>
        <p:nvSpPr>
          <p:cNvPr id="19" name="TextBox 19"/>
          <p:cNvSpPr txBox="1"/>
          <p:nvPr/>
        </p:nvSpPr>
        <p:spPr>
          <a:xfrm>
            <a:off x="1143000" y="6996865"/>
            <a:ext cx="5235216"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3.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Content-Based Analysis (NLP):</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Uses Natural Language Processing to </a:t>
            </a:r>
          </a:p>
        </p:txBody>
      </p:sp>
      <p:sp>
        <p:nvSpPr>
          <p:cNvPr id="20" name="TextBox 20"/>
          <p:cNvSpPr txBox="1"/>
          <p:nvPr/>
        </p:nvSpPr>
        <p:spPr>
          <a:xfrm>
            <a:off x="1371600" y="7440711"/>
            <a:ext cx="5089408" cy="465640"/>
          </a:xfrm>
          <a:prstGeom prst="rect">
            <a:avLst/>
          </a:prstGeom>
        </p:spPr>
        <p:txBody>
          <a:bodyPr lIns="0" tIns="0" rIns="0" bIns="0" rtlCol="0" anchor="t">
            <a:spAutoFit/>
          </a:bodyPr>
          <a:lstStyle/>
          <a:p>
            <a:pPr algn="l">
              <a:lnSpc>
                <a:spcPts val="11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analyze webpage content for suspicious keywords, form fields, and brand </a:t>
            </a:r>
          </a:p>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mismatches. </a:t>
            </a:r>
          </a:p>
        </p:txBody>
      </p:sp>
      <p:sp>
        <p:nvSpPr>
          <p:cNvPr id="21" name="TextBox 21"/>
          <p:cNvSpPr txBox="1"/>
          <p:nvPr/>
        </p:nvSpPr>
        <p:spPr>
          <a:xfrm>
            <a:off x="914400" y="9864547"/>
            <a:ext cx="187505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Dept. of ISE, GNDEC, Bidar </a:t>
            </a:r>
          </a:p>
        </p:txBody>
      </p:sp>
      <p:sp>
        <p:nvSpPr>
          <p:cNvPr id="22" name="TextBox 22"/>
          <p:cNvSpPr txBox="1"/>
          <p:nvPr/>
        </p:nvSpPr>
        <p:spPr>
          <a:xfrm>
            <a:off x="6400800" y="9864547"/>
            <a:ext cx="118786"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1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7689847"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914400" y="443379"/>
            <a:ext cx="5757015" cy="188450"/>
          </a:xfrm>
          <a:prstGeom prst="rect">
            <a:avLst/>
          </a:prstGeom>
        </p:spPr>
        <p:txBody>
          <a:bodyPr lIns="0" tIns="0" rIns="0" bIns="0" rtlCol="0" anchor="t">
            <a:spAutoFit/>
          </a:bodyPr>
          <a:lstStyle/>
          <a:p>
            <a:pPr algn="l">
              <a:lnSpc>
                <a:spcPts val="1609"/>
              </a:lnSpc>
            </a:pPr>
            <a:r>
              <a:rPr lang="en-US" sz="1150" b="1" dirty="0">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600075" y="6836893"/>
            <a:ext cx="337004" cy="217827"/>
          </a:xfrm>
          <a:prstGeom prst="rect">
            <a:avLst/>
          </a:prstGeom>
        </p:spPr>
        <p:txBody>
          <a:bodyPr lIns="0" tIns="0" rIns="0" bIns="0" rtlCol="0" anchor="t">
            <a:spAutoFit/>
          </a:bodyPr>
          <a:lstStyle/>
          <a:p>
            <a:pPr algn="l">
              <a:lnSpc>
                <a:spcPts val="1679"/>
              </a:lnSpc>
            </a:pPr>
            <a:r>
              <a:rPr lang="en-US" sz="1200">
                <a:solidFill>
                  <a:srgbClr val="000000"/>
                </a:solidFill>
                <a:latin typeface="Arial"/>
                <a:ea typeface="Arial"/>
                <a:cs typeface="Arial"/>
                <a:sym typeface="Arial"/>
              </a:rPr>
              <a:t>Type</a:t>
            </a:r>
          </a:p>
        </p:txBody>
      </p:sp>
      <p:sp>
        <p:nvSpPr>
          <p:cNvPr id="5" name="TextBox 5"/>
          <p:cNvSpPr txBox="1"/>
          <p:nvPr/>
        </p:nvSpPr>
        <p:spPr>
          <a:xfrm>
            <a:off x="923872" y="6075529"/>
            <a:ext cx="1875053" cy="205634"/>
          </a:xfrm>
          <a:prstGeom prst="rect">
            <a:avLst/>
          </a:prstGeom>
        </p:spPr>
        <p:txBody>
          <a:bodyPr wrap="square" lIns="0" tIns="0" rIns="0" bIns="0" rtlCol="0" anchor="t">
            <a:spAutoFit/>
          </a:bodyPr>
          <a:lstStyle/>
          <a:p>
            <a:pPr algn="l">
              <a:lnSpc>
                <a:spcPts val="1679"/>
              </a:lnSpc>
            </a:pPr>
            <a:r>
              <a:rPr lang="en-US" sz="1400" b="1" dirty="0">
                <a:solidFill>
                  <a:srgbClr val="000000"/>
                </a:solidFill>
                <a:latin typeface="Times New Roman" panose="02020603050405020304" pitchFamily="18" charset="0"/>
                <a:ea typeface="Arial"/>
                <a:cs typeface="Times New Roman" panose="02020603050405020304" pitchFamily="18" charset="0"/>
                <a:sym typeface="Arial"/>
              </a:rPr>
              <a:t>Types of Phishing: </a:t>
            </a:r>
          </a:p>
        </p:txBody>
      </p:sp>
      <p:sp>
        <p:nvSpPr>
          <p:cNvPr id="6" name="TextBox 6"/>
          <p:cNvSpPr txBox="1"/>
          <p:nvPr/>
        </p:nvSpPr>
        <p:spPr>
          <a:xfrm>
            <a:off x="1143000" y="4840586"/>
            <a:ext cx="137084" cy="237053"/>
          </a:xfrm>
          <a:prstGeom prst="rect">
            <a:avLst/>
          </a:prstGeom>
        </p:spPr>
        <p:txBody>
          <a:bodyPr lIns="0" tIns="0" rIns="0" bIns="0" rtlCol="0" anchor="t">
            <a:spAutoFit/>
          </a:bodyPr>
          <a:lstStyle/>
          <a:p>
            <a:pPr algn="l">
              <a:lnSpc>
                <a:spcPts val="2070"/>
              </a:lnSpc>
            </a:pPr>
            <a:r>
              <a:rPr lang="en-US" sz="1200" dirty="0">
                <a:solidFill>
                  <a:srgbClr val="000000"/>
                </a:solidFill>
                <a:latin typeface="Arial"/>
                <a:ea typeface="Arial"/>
                <a:cs typeface="Arial"/>
                <a:sym typeface="Arial"/>
              </a:rPr>
              <a:t> </a:t>
            </a:r>
          </a:p>
        </p:txBody>
      </p:sp>
      <p:sp>
        <p:nvSpPr>
          <p:cNvPr id="8" name="TextBox 8"/>
          <p:cNvSpPr txBox="1"/>
          <p:nvPr/>
        </p:nvSpPr>
        <p:spPr>
          <a:xfrm>
            <a:off x="937079" y="4386901"/>
            <a:ext cx="2064849" cy="1045927"/>
          </a:xfrm>
          <a:prstGeom prst="rect">
            <a:avLst/>
          </a:prstGeom>
        </p:spPr>
        <p:txBody>
          <a:bodyPr lIns="0" tIns="0" rIns="0" bIns="0" rtlCol="0" anchor="t">
            <a:spAutoFit/>
          </a:bodyPr>
          <a:lstStyle/>
          <a:p>
            <a:pPr marL="171450" indent="-171450" algn="just">
              <a:lnSpc>
                <a:spcPts val="2070"/>
              </a:lnSpc>
              <a:buFont typeface="Arial" panose="020B0604020202020204" pitchFamily="34" charset="0"/>
              <a:buChar char="•"/>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Credit/debit card numbers</a:t>
            </a:r>
          </a:p>
          <a:p>
            <a:pPr marL="171450" indent="-171450" algn="just">
              <a:lnSpc>
                <a:spcPts val="2070"/>
              </a:lnSpc>
              <a:buFont typeface="Arial" panose="020B0604020202020204" pitchFamily="34" charset="0"/>
              <a:buChar char="•"/>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Login credentials </a:t>
            </a:r>
          </a:p>
          <a:p>
            <a:pPr marL="171450" indent="-171450" algn="just">
              <a:lnSpc>
                <a:spcPts val="2070"/>
              </a:lnSpc>
              <a:buFont typeface="Arial" panose="020B0604020202020204" pitchFamily="34" charset="0"/>
              <a:buChar char="•"/>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PII (Aadhaar, PAN, DOB)</a:t>
            </a:r>
          </a:p>
          <a:p>
            <a:pPr marL="171450" indent="-171450" algn="just">
              <a:lnSpc>
                <a:spcPts val="2070"/>
              </a:lnSpc>
              <a:buFont typeface="Arial" panose="020B0604020202020204" pitchFamily="34" charset="0"/>
              <a:buChar char="•"/>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OTPs and security codes </a:t>
            </a:r>
          </a:p>
        </p:txBody>
      </p:sp>
      <p:sp>
        <p:nvSpPr>
          <p:cNvPr id="10" name="TextBox 10"/>
          <p:cNvSpPr txBox="1"/>
          <p:nvPr/>
        </p:nvSpPr>
        <p:spPr>
          <a:xfrm>
            <a:off x="914400" y="2995170"/>
            <a:ext cx="5745509" cy="1177881"/>
          </a:xfrm>
          <a:prstGeom prst="rect">
            <a:avLst/>
          </a:prstGeom>
        </p:spPr>
        <p:txBody>
          <a:bodyPr lIns="0" tIns="0" rIns="0" bIns="0" rtlCol="0" anchor="t">
            <a:spAutoFit/>
          </a:bodyPr>
          <a:lstStyle/>
          <a:p>
            <a:pPr algn="just">
              <a:lnSpc>
                <a:spcPts val="2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1.2 What is Phishing? Phishing is a cyberattack where a malicious actor creates a fraudulent website </a:t>
            </a:r>
          </a:p>
          <a:p>
            <a:pPr algn="just">
              <a:lnSpc>
                <a:spcPts val="14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impersonating a trusted entity — a bank, e-commerce site, or government portal — </a:t>
            </a:r>
          </a:p>
          <a:p>
            <a:pPr algn="just">
              <a:lnSpc>
                <a:spcPts val="2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to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stealsensitive</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data such as: </a:t>
            </a:r>
          </a:p>
        </p:txBody>
      </p:sp>
      <p:sp>
        <p:nvSpPr>
          <p:cNvPr id="11" name="TextBox 11"/>
          <p:cNvSpPr txBox="1"/>
          <p:nvPr/>
        </p:nvSpPr>
        <p:spPr>
          <a:xfrm>
            <a:off x="914400" y="855640"/>
            <a:ext cx="5762511" cy="2123145"/>
          </a:xfrm>
          <a:prstGeom prst="rect">
            <a:avLst/>
          </a:prstGeom>
        </p:spPr>
        <p:txBody>
          <a:bodyPr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widespread digital dependence has simultaneously created a fertile ground for cybercriminals. Among all forms of cybercrime, phishing has consistently ranked as the most common and damaging attack. </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The FBI's IC3 reports phishing as the #1 reported cybercrime, resulting in billions of dollars in annual losses. Phishing exploits not just technical vulnerabilities but human psychology (social engineering). Even technically aware users fall victim to well-crafted pages that visually replicate trusted platforms with pixel-perfect precision.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2" name="TextBox 12"/>
          <p:cNvSpPr txBox="1"/>
          <p:nvPr/>
        </p:nvSpPr>
        <p:spPr>
          <a:xfrm>
            <a:off x="3771900" y="6703543"/>
            <a:ext cx="820731"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Description </a:t>
            </a:r>
          </a:p>
        </p:txBody>
      </p:sp>
      <p:sp>
        <p:nvSpPr>
          <p:cNvPr id="13" name="TextBox 13"/>
          <p:cNvSpPr txBox="1"/>
          <p:nvPr/>
        </p:nvSpPr>
        <p:spPr>
          <a:xfrm>
            <a:off x="3771900" y="7109289"/>
            <a:ext cx="2937272" cy="614039"/>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Fake websites mimicking real ones — this </a:t>
            </a:r>
          </a:p>
          <a:p>
            <a:pPr algn="l">
              <a:lnSpc>
                <a:spcPts val="1139"/>
              </a:lnSpc>
            </a:pPr>
            <a:r>
              <a:rPr lang="en-US" sz="1200">
                <a:solidFill>
                  <a:srgbClr val="000000"/>
                </a:solidFill>
                <a:latin typeface="Arial"/>
                <a:ea typeface="Arial"/>
                <a:cs typeface="Arial"/>
                <a:sym typeface="Arial"/>
              </a:rPr>
              <a:t>project's focus </a:t>
            </a:r>
          </a:p>
        </p:txBody>
      </p:sp>
      <p:sp>
        <p:nvSpPr>
          <p:cNvPr id="14" name="TextBox 14"/>
          <p:cNvSpPr txBox="1"/>
          <p:nvPr/>
        </p:nvSpPr>
        <p:spPr>
          <a:xfrm>
            <a:off x="3771900" y="7777896"/>
            <a:ext cx="2591686" cy="351177"/>
          </a:xfrm>
          <a:prstGeom prst="rect">
            <a:avLst/>
          </a:prstGeom>
        </p:spPr>
        <p:txBody>
          <a:bodyPr lIns="0" tIns="0" rIns="0" bIns="0" rtlCol="0" anchor="t">
            <a:spAutoFit/>
          </a:bodyPr>
          <a:lstStyle/>
          <a:p>
            <a:pPr algn="l">
              <a:lnSpc>
                <a:spcPts val="3000"/>
              </a:lnSpc>
            </a:pPr>
            <a:r>
              <a:rPr lang="en-US" sz="1200" dirty="0">
                <a:solidFill>
                  <a:srgbClr val="000000"/>
                </a:solidFill>
                <a:latin typeface="Arial"/>
                <a:ea typeface="Arial"/>
                <a:cs typeface="Arial"/>
                <a:sym typeface="Arial"/>
              </a:rPr>
              <a:t>Deceptive emails with malicious links </a:t>
            </a:r>
          </a:p>
        </p:txBody>
      </p:sp>
      <p:sp>
        <p:nvSpPr>
          <p:cNvPr id="15" name="TextBox 15"/>
          <p:cNvSpPr txBox="1"/>
          <p:nvPr/>
        </p:nvSpPr>
        <p:spPr>
          <a:xfrm>
            <a:off x="3771900" y="8183642"/>
            <a:ext cx="2730436"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Targeted attacks on specific individuals </a:t>
            </a:r>
          </a:p>
        </p:txBody>
      </p:sp>
      <p:sp>
        <p:nvSpPr>
          <p:cNvPr id="16" name="TextBox 16"/>
          <p:cNvSpPr txBox="1"/>
          <p:nvPr/>
        </p:nvSpPr>
        <p:spPr>
          <a:xfrm>
            <a:off x="3771900" y="8589388"/>
            <a:ext cx="2782424" cy="614039"/>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Highly targeted spear phishing aimed at </a:t>
            </a:r>
          </a:p>
          <a:p>
            <a:pPr algn="l">
              <a:lnSpc>
                <a:spcPts val="1139"/>
              </a:lnSpc>
            </a:pPr>
            <a:r>
              <a:rPr lang="en-US" sz="1200">
                <a:solidFill>
                  <a:srgbClr val="000000"/>
                </a:solidFill>
                <a:latin typeface="Arial"/>
                <a:ea typeface="Arial"/>
                <a:cs typeface="Arial"/>
                <a:sym typeface="Arial"/>
              </a:rPr>
              <a:t>senior executives (C-level) </a:t>
            </a:r>
          </a:p>
        </p:txBody>
      </p:sp>
      <p:sp>
        <p:nvSpPr>
          <p:cNvPr id="17" name="TextBox 17"/>
          <p:cNvSpPr txBox="1"/>
          <p:nvPr/>
        </p:nvSpPr>
        <p:spPr>
          <a:xfrm>
            <a:off x="914400" y="9679810"/>
            <a:ext cx="582061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_________________________________________________________________________ </a:t>
            </a:r>
          </a:p>
        </p:txBody>
      </p:sp>
      <p:sp>
        <p:nvSpPr>
          <p:cNvPr id="18" name="TextBox 18"/>
          <p:cNvSpPr txBox="1"/>
          <p:nvPr/>
        </p:nvSpPr>
        <p:spPr>
          <a:xfrm>
            <a:off x="914400" y="9864547"/>
            <a:ext cx="187505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Dept. of ISE, GNDEC, Bidar </a:t>
            </a:r>
          </a:p>
        </p:txBody>
      </p:sp>
      <p:sp>
        <p:nvSpPr>
          <p:cNvPr id="19" name="TextBox 19"/>
          <p:cNvSpPr txBox="1"/>
          <p:nvPr/>
        </p:nvSpPr>
        <p:spPr>
          <a:xfrm>
            <a:off x="6400800" y="9864547"/>
            <a:ext cx="118786"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2 </a:t>
            </a:r>
          </a:p>
        </p:txBody>
      </p:sp>
      <p:sp>
        <p:nvSpPr>
          <p:cNvPr id="20" name="TextBox 20"/>
          <p:cNvSpPr txBox="1"/>
          <p:nvPr/>
        </p:nvSpPr>
        <p:spPr>
          <a:xfrm>
            <a:off x="600075" y="7777896"/>
            <a:ext cx="1157430" cy="359064"/>
          </a:xfrm>
          <a:prstGeom prst="rect">
            <a:avLst/>
          </a:prstGeom>
        </p:spPr>
        <p:txBody>
          <a:bodyPr lIns="0" tIns="0" rIns="0" bIns="0" rtlCol="0" anchor="t">
            <a:spAutoFit/>
          </a:bodyPr>
          <a:lstStyle/>
          <a:p>
            <a:pPr algn="l">
              <a:lnSpc>
                <a:spcPts val="3000"/>
              </a:lnSpc>
            </a:pPr>
            <a:r>
              <a:rPr lang="en-US" sz="1200" b="1">
                <a:solidFill>
                  <a:srgbClr val="000000"/>
                </a:solidFill>
                <a:latin typeface="Arial Bold"/>
                <a:ea typeface="Arial Bold"/>
                <a:cs typeface="Arial Bold"/>
                <a:sym typeface="Arial Bold"/>
              </a:rPr>
              <a:t>Email Phishing</a:t>
            </a:r>
            <a:r>
              <a:rPr lang="en-US" sz="1200">
                <a:solidFill>
                  <a:srgbClr val="000000"/>
                </a:solidFill>
                <a:latin typeface="Arial"/>
                <a:ea typeface="Arial"/>
                <a:cs typeface="Arial"/>
                <a:sym typeface="Arial"/>
              </a:rPr>
              <a:t> </a:t>
            </a:r>
          </a:p>
        </p:txBody>
      </p:sp>
      <p:sp>
        <p:nvSpPr>
          <p:cNvPr id="21" name="TextBox 21"/>
          <p:cNvSpPr txBox="1"/>
          <p:nvPr/>
        </p:nvSpPr>
        <p:spPr>
          <a:xfrm>
            <a:off x="600075" y="8183642"/>
            <a:ext cx="1174737" cy="359064"/>
          </a:xfrm>
          <a:prstGeom prst="rect">
            <a:avLst/>
          </a:prstGeom>
        </p:spPr>
        <p:txBody>
          <a:bodyPr lIns="0" tIns="0" rIns="0" bIns="0" rtlCol="0" anchor="t">
            <a:spAutoFit/>
          </a:bodyPr>
          <a:lstStyle/>
          <a:p>
            <a:pPr algn="l">
              <a:lnSpc>
                <a:spcPts val="3000"/>
              </a:lnSpc>
            </a:pPr>
            <a:r>
              <a:rPr lang="en-US" sz="1200" b="1">
                <a:solidFill>
                  <a:srgbClr val="000000"/>
                </a:solidFill>
                <a:latin typeface="Arial Bold"/>
                <a:ea typeface="Arial Bold"/>
                <a:cs typeface="Arial Bold"/>
                <a:sym typeface="Arial Bold"/>
              </a:rPr>
              <a:t>Spear Phishing</a:t>
            </a:r>
            <a:r>
              <a:rPr lang="en-US" sz="1200">
                <a:solidFill>
                  <a:srgbClr val="000000"/>
                </a:solidFill>
                <a:latin typeface="Arial"/>
                <a:ea typeface="Arial"/>
                <a:cs typeface="Arial"/>
                <a:sym typeface="Arial"/>
              </a:rPr>
              <a:t> </a:t>
            </a:r>
          </a:p>
        </p:txBody>
      </p:sp>
      <p:sp>
        <p:nvSpPr>
          <p:cNvPr id="22" name="TextBox 22"/>
          <p:cNvSpPr txBox="1"/>
          <p:nvPr/>
        </p:nvSpPr>
        <p:spPr>
          <a:xfrm>
            <a:off x="600075" y="8589388"/>
            <a:ext cx="647595" cy="359064"/>
          </a:xfrm>
          <a:prstGeom prst="rect">
            <a:avLst/>
          </a:prstGeom>
        </p:spPr>
        <p:txBody>
          <a:bodyPr lIns="0" tIns="0" rIns="0" bIns="0" rtlCol="0" anchor="t">
            <a:spAutoFit/>
          </a:bodyPr>
          <a:lstStyle/>
          <a:p>
            <a:pPr algn="l">
              <a:lnSpc>
                <a:spcPts val="3000"/>
              </a:lnSpc>
            </a:pPr>
            <a:r>
              <a:rPr lang="en-US" sz="1200" b="1">
                <a:solidFill>
                  <a:srgbClr val="000000"/>
                </a:solidFill>
                <a:latin typeface="Arial Bold"/>
                <a:ea typeface="Arial Bold"/>
                <a:cs typeface="Arial Bold"/>
                <a:sym typeface="Arial Bold"/>
              </a:rPr>
              <a:t>Whaling</a:t>
            </a:r>
            <a:r>
              <a:rPr lang="en-US" sz="1200">
                <a:solidFill>
                  <a:srgbClr val="000000"/>
                </a:solidFill>
                <a:latin typeface="Arial"/>
                <a:ea typeface="Arial"/>
                <a:cs typeface="Arial"/>
                <a:sym typeface="Arial"/>
              </a:rPr>
              <a:t> </a:t>
            </a:r>
          </a:p>
        </p:txBody>
      </p:sp>
      <p:sp>
        <p:nvSpPr>
          <p:cNvPr id="23" name="TextBox 23"/>
          <p:cNvSpPr txBox="1"/>
          <p:nvPr/>
        </p:nvSpPr>
        <p:spPr>
          <a:xfrm>
            <a:off x="600075" y="7242639"/>
            <a:ext cx="1698546" cy="225714"/>
          </a:xfrm>
          <a:prstGeom prst="rect">
            <a:avLst/>
          </a:prstGeom>
        </p:spPr>
        <p:txBody>
          <a:bodyPr lIns="0" tIns="0" rIns="0" bIns="0" rtlCol="0" anchor="t">
            <a:spAutoFit/>
          </a:bodyPr>
          <a:lstStyle/>
          <a:p>
            <a:pPr algn="l">
              <a:lnSpc>
                <a:spcPts val="1679"/>
              </a:lnSpc>
            </a:pPr>
            <a:r>
              <a:rPr lang="en-US" sz="1200" b="1">
                <a:solidFill>
                  <a:srgbClr val="000000"/>
                </a:solidFill>
                <a:latin typeface="Arial Bold"/>
                <a:ea typeface="Arial Bold"/>
                <a:cs typeface="Arial Bold"/>
                <a:sym typeface="Arial Bold"/>
              </a:rPr>
              <a:t>URL/Website Phishing</a:t>
            </a:r>
            <a:r>
              <a:rPr lang="en-US" sz="1200">
                <a:solidFill>
                  <a:srgbClr val="000000"/>
                </a:solidFill>
                <a:latin typeface="Arial"/>
                <a:ea typeface="Arial"/>
                <a:cs typeface="Arial"/>
                <a:sym typeface="Aria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7689847"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914400" y="443379"/>
            <a:ext cx="5757015" cy="188450"/>
          </a:xfrm>
          <a:prstGeom prst="rect">
            <a:avLst/>
          </a:prstGeom>
        </p:spPr>
        <p:txBody>
          <a:bodyPr lIns="0" tIns="0" rIns="0" bIns="0" rtlCol="0" anchor="t">
            <a:spAutoFit/>
          </a:bodyPr>
          <a:lstStyle/>
          <a:p>
            <a:pPr algn="l">
              <a:lnSpc>
                <a:spcPts val="1609"/>
              </a:lnSpc>
            </a:pPr>
            <a:r>
              <a:rPr lang="en-US" sz="1150" b="1" dirty="0">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914400" y="3966991"/>
            <a:ext cx="967197" cy="234423"/>
          </a:xfrm>
          <a:prstGeom prst="rect">
            <a:avLst/>
          </a:prstGeom>
        </p:spPr>
        <p:txBody>
          <a:bodyPr lIns="0" tIns="0" rIns="0" bIns="0" rtlCol="0" anchor="t">
            <a:spAutoFit/>
          </a:bodyPr>
          <a:lstStyle/>
          <a:p>
            <a:pPr algn="l">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Objectives </a:t>
            </a:r>
          </a:p>
        </p:txBody>
      </p:sp>
      <p:sp>
        <p:nvSpPr>
          <p:cNvPr id="5" name="TextBox 5"/>
          <p:cNvSpPr txBox="1"/>
          <p:nvPr/>
        </p:nvSpPr>
        <p:spPr>
          <a:xfrm>
            <a:off x="600075" y="969940"/>
            <a:ext cx="380190" cy="217827"/>
          </a:xfrm>
          <a:prstGeom prst="rect">
            <a:avLst/>
          </a:prstGeom>
        </p:spPr>
        <p:txBody>
          <a:bodyPr lIns="0" tIns="0" rIns="0" bIns="0" rtlCol="0" anchor="t">
            <a:spAutoFit/>
          </a:bodyPr>
          <a:lstStyle/>
          <a:p>
            <a:pPr algn="l">
              <a:lnSpc>
                <a:spcPts val="1679"/>
              </a:lnSpc>
            </a:pPr>
            <a:r>
              <a:rPr lang="en-US" sz="1200">
                <a:solidFill>
                  <a:srgbClr val="000000"/>
                </a:solidFill>
                <a:latin typeface="Arial"/>
                <a:ea typeface="Arial"/>
                <a:cs typeface="Arial"/>
                <a:sym typeface="Arial"/>
              </a:rPr>
              <a:t>Type </a:t>
            </a:r>
          </a:p>
        </p:txBody>
      </p:sp>
      <p:sp>
        <p:nvSpPr>
          <p:cNvPr id="6" name="TextBox 6"/>
          <p:cNvSpPr txBox="1"/>
          <p:nvPr/>
        </p:nvSpPr>
        <p:spPr>
          <a:xfrm>
            <a:off x="914400" y="4404427"/>
            <a:ext cx="4006850" cy="295722"/>
          </a:xfrm>
          <a:prstGeom prst="rect">
            <a:avLst/>
          </a:prstGeom>
        </p:spPr>
        <p:txBody>
          <a:bodyPr wrap="square" lIns="0" tIns="0" rIns="0" bIns="0" rtlCol="0" anchor="t">
            <a:spAutoFit/>
          </a:bodyPr>
          <a:lstStyle/>
          <a:p>
            <a:pPr algn="l">
              <a:lnSpc>
                <a:spcPts val="2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2.1 Overview Objectives are structured across three levels: </a:t>
            </a:r>
          </a:p>
        </p:txBody>
      </p:sp>
      <p:sp>
        <p:nvSpPr>
          <p:cNvPr id="7" name="TextBox 7"/>
          <p:cNvSpPr txBox="1"/>
          <p:nvPr/>
        </p:nvSpPr>
        <p:spPr>
          <a:xfrm>
            <a:off x="1045144" y="4825557"/>
            <a:ext cx="4380928" cy="781660"/>
          </a:xfrm>
          <a:prstGeom prst="rect">
            <a:avLst/>
          </a:prstGeom>
        </p:spPr>
        <p:txBody>
          <a:bodyPr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Primary — core goals that define project success </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Secondary — enhancement goals that add depth </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Measurable — quantifiable benchmarks to evaluate completion </a:t>
            </a:r>
          </a:p>
        </p:txBody>
      </p:sp>
      <p:sp>
        <p:nvSpPr>
          <p:cNvPr id="9" name="TextBox 9"/>
          <p:cNvSpPr txBox="1"/>
          <p:nvPr/>
        </p:nvSpPr>
        <p:spPr>
          <a:xfrm>
            <a:off x="914400" y="6042606"/>
            <a:ext cx="1606772" cy="351177"/>
          </a:xfrm>
          <a:prstGeom prst="rect">
            <a:avLst/>
          </a:prstGeom>
        </p:spPr>
        <p:txBody>
          <a:bodyPr lIns="0" tIns="0" rIns="0" bIns="0" rtlCol="0" anchor="t">
            <a:spAutoFit/>
          </a:bodyPr>
          <a:lstStyle/>
          <a:p>
            <a:pPr algn="l">
              <a:lnSpc>
                <a:spcPts val="3000"/>
              </a:lnSpc>
            </a:pPr>
            <a:r>
              <a:rPr lang="en-US" sz="1200" dirty="0">
                <a:solidFill>
                  <a:srgbClr val="000000"/>
                </a:solidFill>
                <a:latin typeface="Arial"/>
                <a:ea typeface="Arial"/>
                <a:cs typeface="Arial"/>
                <a:sym typeface="Arial"/>
              </a:rPr>
              <a:t>2.2 Primary Objectives </a:t>
            </a:r>
          </a:p>
        </p:txBody>
      </p:sp>
      <p:sp>
        <p:nvSpPr>
          <p:cNvPr id="10" name="TextBox 10"/>
          <p:cNvSpPr txBox="1"/>
          <p:nvPr/>
        </p:nvSpPr>
        <p:spPr>
          <a:xfrm>
            <a:off x="980117" y="6612858"/>
            <a:ext cx="5780494" cy="2261004"/>
          </a:xfrm>
          <a:prstGeom prst="rect">
            <a:avLst/>
          </a:prstGeom>
        </p:spPr>
        <p:txBody>
          <a:bodyPr lIns="0" tIns="0" rIns="0" bIns="0" rtlCol="0" anchor="t">
            <a:spAutoFit/>
          </a:bodyPr>
          <a:lstStyle/>
          <a:p>
            <a:pPr algn="just">
              <a:lnSpc>
                <a:spcPts val="3000"/>
              </a:lnSpc>
            </a:pPr>
            <a:r>
              <a:rPr lang="en-US" sz="1200" dirty="0">
                <a:solidFill>
                  <a:srgbClr val="434343"/>
                </a:solidFill>
                <a:latin typeface="Times New Roman" panose="02020603050405020304" pitchFamily="18" charset="0"/>
                <a:ea typeface="Arial"/>
                <a:cs typeface="Times New Roman" panose="02020603050405020304" pitchFamily="18" charset="0"/>
                <a:sym typeface="Arial"/>
              </a:rPr>
              <a:t>Objective 1 — Study &amp; Analyze Phishing Characteristics </a:t>
            </a:r>
          </a:p>
          <a:p>
            <a:pPr algn="just">
              <a:lnSpc>
                <a:spcPts val="19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Conduct in-depth study of distinguishing characteristics of phishing websites across </a:t>
            </a:r>
          </a:p>
          <a:p>
            <a:pPr algn="just">
              <a:lnSpc>
                <a:spcPts val="219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URL structure, domain properties, and webpage content. </a:t>
            </a:r>
            <a:r>
              <a:rPr lang="en-US" sz="1200" dirty="0">
                <a:solidFill>
                  <a:srgbClr val="000000"/>
                </a:solidFill>
                <a:latin typeface="Arial"/>
                <a:ea typeface="Arial"/>
                <a:cs typeface="Arial"/>
                <a:sym typeface="Arial"/>
              </a:rPr>
              <a:t>Understanding what makes a URL phishing-like is the foundation — without this, no ML algorithm can compensate.</a:t>
            </a:r>
          </a:p>
          <a:p>
            <a:pPr algn="just">
              <a:lnSpc>
                <a:spcPts val="2199"/>
              </a:lnSpc>
            </a:pPr>
            <a:r>
              <a:rPr lang="en-US" sz="1200" dirty="0">
                <a:solidFill>
                  <a:srgbClr val="000000"/>
                </a:solidFill>
                <a:latin typeface="Arial"/>
                <a:ea typeface="Arial"/>
                <a:cs typeface="Arial"/>
                <a:sym typeface="Arial"/>
              </a:rPr>
              <a:t> </a:t>
            </a:r>
          </a:p>
          <a:p>
            <a:pPr algn="just">
              <a:lnSpc>
                <a:spcPts val="2070"/>
              </a:lnSpc>
            </a:pPr>
            <a:endParaRPr lang="en-US" sz="1200" dirty="0">
              <a:solidFill>
                <a:srgbClr val="434343"/>
              </a:solidFill>
              <a:latin typeface="Arial"/>
              <a:ea typeface="Arial"/>
              <a:cs typeface="Arial"/>
              <a:sym typeface="Arial"/>
            </a:endParaRPr>
          </a:p>
          <a:p>
            <a:pPr algn="just">
              <a:lnSpc>
                <a:spcPts val="2070"/>
              </a:lnSpc>
            </a:pPr>
            <a:endParaRPr lang="en-US" sz="1200" dirty="0">
              <a:solidFill>
                <a:srgbClr val="000000"/>
              </a:solidFill>
              <a:latin typeface="Arial"/>
              <a:ea typeface="Arial"/>
              <a:cs typeface="Arial"/>
              <a:sym typeface="Arial"/>
            </a:endParaRPr>
          </a:p>
          <a:p>
            <a:pPr algn="just">
              <a:lnSpc>
                <a:spcPts val="2199"/>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1" name="TextBox 11"/>
          <p:cNvSpPr txBox="1"/>
          <p:nvPr/>
        </p:nvSpPr>
        <p:spPr>
          <a:xfrm>
            <a:off x="3771900" y="836590"/>
            <a:ext cx="820731"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Description </a:t>
            </a:r>
          </a:p>
        </p:txBody>
      </p:sp>
      <p:sp>
        <p:nvSpPr>
          <p:cNvPr id="12" name="TextBox 12"/>
          <p:cNvSpPr txBox="1"/>
          <p:nvPr/>
        </p:nvSpPr>
        <p:spPr>
          <a:xfrm>
            <a:off x="3771900" y="1242336"/>
            <a:ext cx="3093177" cy="614039"/>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Phishing conducted via SMS (text message) </a:t>
            </a:r>
          </a:p>
          <a:p>
            <a:pPr algn="l">
              <a:lnSpc>
                <a:spcPts val="1139"/>
              </a:lnSpc>
            </a:pPr>
            <a:r>
              <a:rPr lang="en-US" sz="1200">
                <a:solidFill>
                  <a:srgbClr val="000000"/>
                </a:solidFill>
                <a:latin typeface="Arial"/>
                <a:ea typeface="Arial"/>
                <a:cs typeface="Arial"/>
                <a:sym typeface="Arial"/>
              </a:rPr>
              <a:t>or voice calls </a:t>
            </a:r>
          </a:p>
        </p:txBody>
      </p:sp>
      <p:sp>
        <p:nvSpPr>
          <p:cNvPr id="13" name="TextBox 13"/>
          <p:cNvSpPr txBox="1"/>
          <p:nvPr/>
        </p:nvSpPr>
        <p:spPr>
          <a:xfrm>
            <a:off x="3771900" y="1910944"/>
            <a:ext cx="3118904" cy="876910"/>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DNS manipulation or host file compromise to </a:t>
            </a:r>
          </a:p>
          <a:p>
            <a:pPr algn="l">
              <a:lnSpc>
                <a:spcPts val="1139"/>
              </a:lnSpc>
            </a:pPr>
            <a:r>
              <a:rPr lang="en-US" sz="1200">
                <a:solidFill>
                  <a:srgbClr val="000000"/>
                </a:solidFill>
                <a:latin typeface="Arial"/>
                <a:ea typeface="Arial"/>
                <a:cs typeface="Arial"/>
                <a:sym typeface="Arial"/>
              </a:rPr>
              <a:t>redirect users to malicious sites, even when </a:t>
            </a:r>
          </a:p>
          <a:p>
            <a:pPr algn="l">
              <a:lnSpc>
                <a:spcPts val="3000"/>
              </a:lnSpc>
            </a:pPr>
            <a:r>
              <a:rPr lang="en-US" sz="1200">
                <a:solidFill>
                  <a:srgbClr val="000000"/>
                </a:solidFill>
                <a:latin typeface="Arial"/>
                <a:ea typeface="Arial"/>
                <a:cs typeface="Arial"/>
                <a:sym typeface="Arial"/>
              </a:rPr>
              <a:t>typing the correct URL </a:t>
            </a:r>
          </a:p>
        </p:txBody>
      </p:sp>
      <p:sp>
        <p:nvSpPr>
          <p:cNvPr id="14" name="TextBox 14"/>
          <p:cNvSpPr txBox="1"/>
          <p:nvPr/>
        </p:nvSpPr>
        <p:spPr>
          <a:xfrm>
            <a:off x="3771900" y="2842422"/>
            <a:ext cx="2816809" cy="876910"/>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Creating an exact replica of a legitimate, </a:t>
            </a:r>
          </a:p>
          <a:p>
            <a:pPr algn="l">
              <a:lnSpc>
                <a:spcPts val="1139"/>
              </a:lnSpc>
            </a:pPr>
            <a:r>
              <a:rPr lang="en-US" sz="1200">
                <a:solidFill>
                  <a:srgbClr val="000000"/>
                </a:solidFill>
                <a:latin typeface="Arial"/>
                <a:ea typeface="Arial"/>
                <a:cs typeface="Arial"/>
                <a:sym typeface="Arial"/>
              </a:rPr>
              <a:t>previously sent email with updated, </a:t>
            </a:r>
          </a:p>
          <a:p>
            <a:pPr algn="l">
              <a:lnSpc>
                <a:spcPts val="3000"/>
              </a:lnSpc>
            </a:pPr>
            <a:r>
              <a:rPr lang="en-US" sz="1200">
                <a:solidFill>
                  <a:srgbClr val="000000"/>
                </a:solidFill>
                <a:latin typeface="Arial"/>
                <a:ea typeface="Arial"/>
                <a:cs typeface="Arial"/>
                <a:sym typeface="Arial"/>
              </a:rPr>
              <a:t>malicious links </a:t>
            </a:r>
          </a:p>
        </p:txBody>
      </p:sp>
      <p:sp>
        <p:nvSpPr>
          <p:cNvPr id="15" name="TextBox 15"/>
          <p:cNvSpPr txBox="1"/>
          <p:nvPr/>
        </p:nvSpPr>
        <p:spPr>
          <a:xfrm>
            <a:off x="914400" y="9679810"/>
            <a:ext cx="582061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_________________________________________________________________________ </a:t>
            </a:r>
          </a:p>
        </p:txBody>
      </p:sp>
      <p:sp>
        <p:nvSpPr>
          <p:cNvPr id="16" name="TextBox 16"/>
          <p:cNvSpPr txBox="1"/>
          <p:nvPr/>
        </p:nvSpPr>
        <p:spPr>
          <a:xfrm>
            <a:off x="914400" y="9864547"/>
            <a:ext cx="187505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Dept. of ISE, GNDEC, Bidar </a:t>
            </a:r>
          </a:p>
        </p:txBody>
      </p:sp>
      <p:sp>
        <p:nvSpPr>
          <p:cNvPr id="17" name="TextBox 17"/>
          <p:cNvSpPr txBox="1"/>
          <p:nvPr/>
        </p:nvSpPr>
        <p:spPr>
          <a:xfrm>
            <a:off x="6400800" y="9864547"/>
            <a:ext cx="118786"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3 </a:t>
            </a:r>
          </a:p>
        </p:txBody>
      </p:sp>
      <p:sp>
        <p:nvSpPr>
          <p:cNvPr id="18" name="TextBox 18"/>
          <p:cNvSpPr txBox="1"/>
          <p:nvPr/>
        </p:nvSpPr>
        <p:spPr>
          <a:xfrm>
            <a:off x="600075" y="2044294"/>
            <a:ext cx="760085" cy="225714"/>
          </a:xfrm>
          <a:prstGeom prst="rect">
            <a:avLst/>
          </a:prstGeom>
        </p:spPr>
        <p:txBody>
          <a:bodyPr lIns="0" tIns="0" rIns="0" bIns="0" rtlCol="0" anchor="t">
            <a:spAutoFit/>
          </a:bodyPr>
          <a:lstStyle/>
          <a:p>
            <a:pPr algn="l">
              <a:lnSpc>
                <a:spcPts val="1679"/>
              </a:lnSpc>
            </a:pPr>
            <a:r>
              <a:rPr lang="en-US" sz="1200" b="1">
                <a:solidFill>
                  <a:srgbClr val="000000"/>
                </a:solidFill>
                <a:latin typeface="Arial Bold"/>
                <a:ea typeface="Arial Bold"/>
                <a:cs typeface="Arial Bold"/>
                <a:sym typeface="Arial Bold"/>
              </a:rPr>
              <a:t>Pharming</a:t>
            </a:r>
            <a:r>
              <a:rPr lang="en-US" sz="1200">
                <a:solidFill>
                  <a:srgbClr val="000000"/>
                </a:solidFill>
                <a:latin typeface="Arial"/>
                <a:ea typeface="Arial"/>
                <a:cs typeface="Arial"/>
                <a:sym typeface="Arial"/>
              </a:rPr>
              <a:t> </a:t>
            </a:r>
          </a:p>
        </p:txBody>
      </p:sp>
      <p:sp>
        <p:nvSpPr>
          <p:cNvPr id="19" name="TextBox 19"/>
          <p:cNvSpPr txBox="1"/>
          <p:nvPr/>
        </p:nvSpPr>
        <p:spPr>
          <a:xfrm>
            <a:off x="600075" y="2975772"/>
            <a:ext cx="1174509" cy="225714"/>
          </a:xfrm>
          <a:prstGeom prst="rect">
            <a:avLst/>
          </a:prstGeom>
        </p:spPr>
        <p:txBody>
          <a:bodyPr lIns="0" tIns="0" rIns="0" bIns="0" rtlCol="0" anchor="t">
            <a:spAutoFit/>
          </a:bodyPr>
          <a:lstStyle/>
          <a:p>
            <a:pPr algn="l">
              <a:lnSpc>
                <a:spcPts val="1679"/>
              </a:lnSpc>
            </a:pPr>
            <a:r>
              <a:rPr lang="en-US" sz="1200" b="1">
                <a:solidFill>
                  <a:srgbClr val="000000"/>
                </a:solidFill>
                <a:latin typeface="Arial Bold"/>
                <a:ea typeface="Arial Bold"/>
                <a:cs typeface="Arial Bold"/>
                <a:sym typeface="Arial Bold"/>
              </a:rPr>
              <a:t>Clone Phishing</a:t>
            </a:r>
            <a:r>
              <a:rPr lang="en-US" sz="1200">
                <a:solidFill>
                  <a:srgbClr val="000000"/>
                </a:solidFill>
                <a:latin typeface="Arial"/>
                <a:ea typeface="Arial"/>
                <a:cs typeface="Arial"/>
                <a:sym typeface="Arial"/>
              </a:rPr>
              <a:t> </a:t>
            </a:r>
          </a:p>
        </p:txBody>
      </p:sp>
      <p:sp>
        <p:nvSpPr>
          <p:cNvPr id="20" name="TextBox 20"/>
          <p:cNvSpPr txBox="1"/>
          <p:nvPr/>
        </p:nvSpPr>
        <p:spPr>
          <a:xfrm>
            <a:off x="600075" y="1375686"/>
            <a:ext cx="1430912" cy="225714"/>
          </a:xfrm>
          <a:prstGeom prst="rect">
            <a:avLst/>
          </a:prstGeom>
        </p:spPr>
        <p:txBody>
          <a:bodyPr lIns="0" tIns="0" rIns="0" bIns="0" rtlCol="0" anchor="t">
            <a:spAutoFit/>
          </a:bodyPr>
          <a:lstStyle/>
          <a:p>
            <a:pPr algn="l">
              <a:lnSpc>
                <a:spcPts val="1679"/>
              </a:lnSpc>
            </a:pPr>
            <a:r>
              <a:rPr lang="en-US" sz="1200" b="1">
                <a:solidFill>
                  <a:srgbClr val="000000"/>
                </a:solidFill>
                <a:latin typeface="Arial Bold"/>
                <a:ea typeface="Arial Bold"/>
                <a:cs typeface="Arial Bold"/>
                <a:sym typeface="Arial Bold"/>
              </a:rPr>
              <a:t>Smishing / Vishing</a:t>
            </a:r>
            <a:r>
              <a:rPr lang="en-US" sz="1200">
                <a:solidFill>
                  <a:srgbClr val="000000"/>
                </a:solidFill>
                <a:latin typeface="Arial"/>
                <a:ea typeface="Arial"/>
                <a:cs typeface="Arial"/>
                <a:sym typeface="Arial"/>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7689847"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914400" y="443379"/>
            <a:ext cx="5757015" cy="188450"/>
          </a:xfrm>
          <a:prstGeom prst="rect">
            <a:avLst/>
          </a:prstGeom>
        </p:spPr>
        <p:txBody>
          <a:bodyPr lIns="0" tIns="0" rIns="0" bIns="0" rtlCol="0" anchor="t">
            <a:spAutoFit/>
          </a:bodyPr>
          <a:lstStyle/>
          <a:p>
            <a:pPr algn="l">
              <a:lnSpc>
                <a:spcPts val="1609"/>
              </a:lnSpc>
            </a:pPr>
            <a:r>
              <a:rPr lang="en-US" sz="1150" b="1" dirty="0">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657225" y="7892872"/>
            <a:ext cx="129645"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 </a:t>
            </a:r>
          </a:p>
        </p:txBody>
      </p:sp>
      <p:sp>
        <p:nvSpPr>
          <p:cNvPr id="5" name="TextBox 5"/>
          <p:cNvSpPr txBox="1"/>
          <p:nvPr/>
        </p:nvSpPr>
        <p:spPr>
          <a:xfrm>
            <a:off x="657225" y="8298618"/>
            <a:ext cx="129645"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1 </a:t>
            </a:r>
          </a:p>
        </p:txBody>
      </p:sp>
      <p:sp>
        <p:nvSpPr>
          <p:cNvPr id="6" name="TextBox 6"/>
          <p:cNvSpPr txBox="1"/>
          <p:nvPr/>
        </p:nvSpPr>
        <p:spPr>
          <a:xfrm>
            <a:off x="657225" y="8704364"/>
            <a:ext cx="129645"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2 </a:t>
            </a:r>
          </a:p>
        </p:txBody>
      </p:sp>
      <p:sp>
        <p:nvSpPr>
          <p:cNvPr id="7" name="TextBox 7"/>
          <p:cNvSpPr txBox="1"/>
          <p:nvPr/>
        </p:nvSpPr>
        <p:spPr>
          <a:xfrm>
            <a:off x="657225" y="9110101"/>
            <a:ext cx="129645"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3 </a:t>
            </a:r>
          </a:p>
        </p:txBody>
      </p:sp>
      <p:sp>
        <p:nvSpPr>
          <p:cNvPr id="8" name="TextBox 8"/>
          <p:cNvSpPr txBox="1"/>
          <p:nvPr/>
        </p:nvSpPr>
        <p:spPr>
          <a:xfrm>
            <a:off x="581025" y="1413129"/>
            <a:ext cx="261938"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Tier</a:t>
            </a:r>
          </a:p>
        </p:txBody>
      </p:sp>
      <p:sp>
        <p:nvSpPr>
          <p:cNvPr id="9" name="TextBox 9"/>
          <p:cNvSpPr txBox="1"/>
          <p:nvPr/>
        </p:nvSpPr>
        <p:spPr>
          <a:xfrm>
            <a:off x="581025" y="1818875"/>
            <a:ext cx="846687"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URL-Based </a:t>
            </a:r>
          </a:p>
        </p:txBody>
      </p:sp>
      <p:sp>
        <p:nvSpPr>
          <p:cNvPr id="10" name="TextBox 10"/>
          <p:cNvSpPr txBox="1"/>
          <p:nvPr/>
        </p:nvSpPr>
        <p:spPr>
          <a:xfrm>
            <a:off x="581025" y="4340914"/>
            <a:ext cx="933221" cy="199542"/>
          </a:xfrm>
          <a:prstGeom prst="rect">
            <a:avLst/>
          </a:prstGeom>
        </p:spPr>
        <p:txBody>
          <a:bodyPr lIns="0" tIns="0" rIns="0" bIns="0" rtlCol="0" anchor="t">
            <a:spAutoFit/>
          </a:bodyPr>
          <a:lstStyle/>
          <a:p>
            <a:pPr algn="l">
              <a:lnSpc>
                <a:spcPts val="167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Content/NLP </a:t>
            </a:r>
          </a:p>
        </p:txBody>
      </p:sp>
      <p:sp>
        <p:nvSpPr>
          <p:cNvPr id="11" name="TextBox 11"/>
          <p:cNvSpPr txBox="1"/>
          <p:nvPr/>
        </p:nvSpPr>
        <p:spPr>
          <a:xfrm>
            <a:off x="581025" y="3146565"/>
            <a:ext cx="1071362" cy="199542"/>
          </a:xfrm>
          <a:prstGeom prst="rect">
            <a:avLst/>
          </a:prstGeom>
        </p:spPr>
        <p:txBody>
          <a:bodyPr lIns="0" tIns="0" rIns="0" bIns="0" rtlCol="0" anchor="t">
            <a:spAutoFit/>
          </a:bodyPr>
          <a:lstStyle/>
          <a:p>
            <a:pPr algn="l">
              <a:lnSpc>
                <a:spcPts val="167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Domain-Based </a:t>
            </a:r>
          </a:p>
        </p:txBody>
      </p:sp>
      <p:sp>
        <p:nvSpPr>
          <p:cNvPr id="12" name="TextBox 12"/>
          <p:cNvSpPr txBox="1"/>
          <p:nvPr/>
        </p:nvSpPr>
        <p:spPr>
          <a:xfrm>
            <a:off x="914400" y="893740"/>
            <a:ext cx="4190419" cy="199542"/>
          </a:xfrm>
          <a:prstGeom prst="rect">
            <a:avLst/>
          </a:prstGeom>
        </p:spPr>
        <p:txBody>
          <a:bodyPr lIns="0" tIns="0" rIns="0" bIns="0" rtlCol="0" anchor="t">
            <a:spAutoFit/>
          </a:bodyPr>
          <a:lstStyle/>
          <a:p>
            <a:pPr algn="l">
              <a:lnSpc>
                <a:spcPts val="1679"/>
              </a:lnSpc>
            </a:pPr>
            <a:r>
              <a:rPr lang="en-US" sz="1200" dirty="0">
                <a:solidFill>
                  <a:srgbClr val="434343"/>
                </a:solidFill>
                <a:latin typeface="Times New Roman" panose="02020603050405020304" pitchFamily="18" charset="0"/>
                <a:ea typeface="Arial"/>
                <a:cs typeface="Times New Roman" panose="02020603050405020304" pitchFamily="18" charset="0"/>
                <a:sym typeface="Arial"/>
              </a:rPr>
              <a:t>Objective 2 — Build a Multi-Layer Feature Extraction Engine </a:t>
            </a:r>
          </a:p>
        </p:txBody>
      </p:sp>
      <p:sp>
        <p:nvSpPr>
          <p:cNvPr id="13" name="TextBox 13"/>
          <p:cNvSpPr txBox="1"/>
          <p:nvPr/>
        </p:nvSpPr>
        <p:spPr>
          <a:xfrm>
            <a:off x="923034" y="6410230"/>
            <a:ext cx="5819051" cy="839782"/>
          </a:xfrm>
          <a:prstGeom prst="rect">
            <a:avLst/>
          </a:prstGeom>
        </p:spPr>
        <p:txBody>
          <a:bodyPr lIns="0" tIns="0" rIns="0" bIns="0" rtlCol="0" anchor="t">
            <a:spAutoFit/>
          </a:bodyPr>
          <a:lstStyle/>
          <a:p>
            <a:pPr algn="l">
              <a:lnSpc>
                <a:spcPts val="2469"/>
              </a:lnSpc>
            </a:pPr>
            <a:r>
              <a:rPr lang="en-US" sz="1200" dirty="0">
                <a:solidFill>
                  <a:srgbClr val="434343"/>
                </a:solidFill>
                <a:latin typeface="Times New Roman" panose="02020603050405020304" pitchFamily="18" charset="0"/>
                <a:ea typeface="Arial"/>
                <a:cs typeface="Times New Roman" panose="02020603050405020304" pitchFamily="18" charset="0"/>
                <a:sym typeface="Arial"/>
              </a:rPr>
              <a:t>3.1 What is Scope? </a:t>
            </a:r>
          </a:p>
          <a:p>
            <a:pPr algn="l">
              <a:lnSpc>
                <a:spcPts val="246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Scope defines the exact boundaries of the project — what it will do, what it won't do, </a:t>
            </a:r>
          </a:p>
          <a:p>
            <a:pPr algn="l">
              <a:lnSpc>
                <a:spcPts val="1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who it serves, and what technology and data it covers. </a:t>
            </a:r>
          </a:p>
        </p:txBody>
      </p:sp>
      <p:sp>
        <p:nvSpPr>
          <p:cNvPr id="14" name="TextBox 14"/>
          <p:cNvSpPr txBox="1"/>
          <p:nvPr/>
        </p:nvSpPr>
        <p:spPr>
          <a:xfrm>
            <a:off x="914400" y="7503004"/>
            <a:ext cx="1503626" cy="351177"/>
          </a:xfrm>
          <a:prstGeom prst="rect">
            <a:avLst/>
          </a:prstGeom>
        </p:spPr>
        <p:txBody>
          <a:bodyPr lIns="0" tIns="0" rIns="0" bIns="0" rtlCol="0" anchor="t">
            <a:spAutoFit/>
          </a:bodyPr>
          <a:lstStyle/>
          <a:p>
            <a:pPr algn="l">
              <a:lnSpc>
                <a:spcPts val="3000"/>
              </a:lnSpc>
            </a:pPr>
            <a:r>
              <a:rPr lang="en-US" sz="1200" dirty="0">
                <a:solidFill>
                  <a:srgbClr val="434343"/>
                </a:solidFill>
                <a:latin typeface="Arial"/>
                <a:ea typeface="Arial"/>
                <a:cs typeface="Arial"/>
                <a:sym typeface="Arial"/>
              </a:rPr>
              <a:t>3.2 Functional Scope </a:t>
            </a:r>
          </a:p>
        </p:txBody>
      </p:sp>
      <p:sp>
        <p:nvSpPr>
          <p:cNvPr id="15" name="TextBox 15"/>
          <p:cNvSpPr txBox="1"/>
          <p:nvPr/>
        </p:nvSpPr>
        <p:spPr>
          <a:xfrm>
            <a:off x="1019175" y="7892872"/>
            <a:ext cx="578910"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Feature </a:t>
            </a:r>
          </a:p>
        </p:txBody>
      </p:sp>
      <p:sp>
        <p:nvSpPr>
          <p:cNvPr id="16" name="TextBox 16"/>
          <p:cNvSpPr txBox="1"/>
          <p:nvPr/>
        </p:nvSpPr>
        <p:spPr>
          <a:xfrm>
            <a:off x="1019175" y="8298618"/>
            <a:ext cx="2384546"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URL submission via web interface </a:t>
            </a:r>
          </a:p>
        </p:txBody>
      </p:sp>
      <p:sp>
        <p:nvSpPr>
          <p:cNvPr id="17" name="TextBox 17"/>
          <p:cNvSpPr txBox="1"/>
          <p:nvPr/>
        </p:nvSpPr>
        <p:spPr>
          <a:xfrm>
            <a:off x="1019175" y="8704364"/>
            <a:ext cx="4691672"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URL feature extraction (length, subdomains, special chars, entropy) </a:t>
            </a:r>
          </a:p>
        </p:txBody>
      </p:sp>
      <p:sp>
        <p:nvSpPr>
          <p:cNvPr id="18" name="TextBox 18"/>
          <p:cNvSpPr txBox="1"/>
          <p:nvPr/>
        </p:nvSpPr>
        <p:spPr>
          <a:xfrm>
            <a:off x="1019175" y="9110101"/>
            <a:ext cx="4518088"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Domain feature extraction (WHOIS, DNS, SSL certificate validity) </a:t>
            </a:r>
          </a:p>
        </p:txBody>
      </p:sp>
      <p:sp>
        <p:nvSpPr>
          <p:cNvPr id="19" name="TextBox 19"/>
          <p:cNvSpPr txBox="1"/>
          <p:nvPr/>
        </p:nvSpPr>
        <p:spPr>
          <a:xfrm>
            <a:off x="3752850" y="1413129"/>
            <a:ext cx="1356455"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Features Extracted </a:t>
            </a:r>
          </a:p>
        </p:txBody>
      </p:sp>
      <p:sp>
        <p:nvSpPr>
          <p:cNvPr id="20" name="TextBox 20"/>
          <p:cNvSpPr txBox="1"/>
          <p:nvPr/>
        </p:nvSpPr>
        <p:spPr>
          <a:xfrm>
            <a:off x="3752850" y="1818875"/>
            <a:ext cx="3067593" cy="1052339"/>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URL length, presence of '@' symbol, count </a:t>
            </a:r>
          </a:p>
          <a:p>
            <a:pPr algn="l">
              <a:lnSpc>
                <a:spcPts val="11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of subdomains, use of IP address instead of </a:t>
            </a:r>
          </a:p>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domain name, URL entropy, suspicious </a:t>
            </a:r>
          </a:p>
          <a:p>
            <a:pPr algn="l">
              <a:lnSpc>
                <a:spcPts val="11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TLDs </a:t>
            </a:r>
          </a:p>
        </p:txBody>
      </p:sp>
      <p:sp>
        <p:nvSpPr>
          <p:cNvPr id="21" name="TextBox 21"/>
          <p:cNvSpPr txBox="1"/>
          <p:nvPr/>
        </p:nvSpPr>
        <p:spPr>
          <a:xfrm>
            <a:off x="3752850" y="3013215"/>
            <a:ext cx="2652408" cy="1052339"/>
          </a:xfrm>
          <a:prstGeom prst="rect">
            <a:avLst/>
          </a:prstGeom>
        </p:spPr>
        <p:txBody>
          <a:bodyPr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Domain age, WHOIS registration data </a:t>
            </a:r>
          </a:p>
          <a:p>
            <a:pPr algn="just">
              <a:lnSpc>
                <a:spcPts val="11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integrity, DNS record analysis, SSL </a:t>
            </a:r>
          </a:p>
          <a:p>
            <a:pPr algn="just">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certificate validity, external blacklist </a:t>
            </a:r>
          </a:p>
          <a:p>
            <a:pPr algn="just">
              <a:lnSpc>
                <a:spcPts val="11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status/reputation scores </a:t>
            </a:r>
          </a:p>
        </p:txBody>
      </p:sp>
      <p:sp>
        <p:nvSpPr>
          <p:cNvPr id="22" name="TextBox 22"/>
          <p:cNvSpPr txBox="1"/>
          <p:nvPr/>
        </p:nvSpPr>
        <p:spPr>
          <a:xfrm>
            <a:off x="3752850" y="4207564"/>
            <a:ext cx="3136668" cy="1052339"/>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Phishing keywords and phrases, presence of </a:t>
            </a:r>
          </a:p>
          <a:p>
            <a:pPr algn="l">
              <a:lnSpc>
                <a:spcPts val="11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login forms, ratio of internal to external links, </a:t>
            </a:r>
          </a:p>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title/brand mismatch, suspicious anchor text </a:t>
            </a:r>
          </a:p>
          <a:p>
            <a:pPr algn="l">
              <a:lnSpc>
                <a:spcPts val="113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patterns </a:t>
            </a:r>
          </a:p>
        </p:txBody>
      </p:sp>
      <p:sp>
        <p:nvSpPr>
          <p:cNvPr id="23" name="TextBox 23"/>
          <p:cNvSpPr txBox="1"/>
          <p:nvPr/>
        </p:nvSpPr>
        <p:spPr>
          <a:xfrm>
            <a:off x="914400" y="6059710"/>
            <a:ext cx="1802844" cy="234423"/>
          </a:xfrm>
          <a:prstGeom prst="rect">
            <a:avLst/>
          </a:prstGeom>
        </p:spPr>
        <p:txBody>
          <a:bodyPr lIns="0" tIns="0" rIns="0" bIns="0" rtlCol="0" anchor="t">
            <a:spAutoFit/>
          </a:bodyPr>
          <a:lstStyle/>
          <a:p>
            <a:pPr algn="l">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Scope of the Project </a:t>
            </a:r>
          </a:p>
        </p:txBody>
      </p:sp>
      <p:sp>
        <p:nvSpPr>
          <p:cNvPr id="24" name="TextBox 24"/>
          <p:cNvSpPr txBox="1"/>
          <p:nvPr/>
        </p:nvSpPr>
        <p:spPr>
          <a:xfrm>
            <a:off x="914400" y="9679810"/>
            <a:ext cx="582061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_________________________________________________________________________ </a:t>
            </a:r>
          </a:p>
        </p:txBody>
      </p:sp>
      <p:sp>
        <p:nvSpPr>
          <p:cNvPr id="25" name="TextBox 25"/>
          <p:cNvSpPr txBox="1"/>
          <p:nvPr/>
        </p:nvSpPr>
        <p:spPr>
          <a:xfrm>
            <a:off x="914400" y="9864547"/>
            <a:ext cx="187505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Dept. of ISE, GNDEC, Bidar </a:t>
            </a:r>
          </a:p>
        </p:txBody>
      </p:sp>
      <p:sp>
        <p:nvSpPr>
          <p:cNvPr id="26" name="TextBox 26"/>
          <p:cNvSpPr txBox="1"/>
          <p:nvPr/>
        </p:nvSpPr>
        <p:spPr>
          <a:xfrm>
            <a:off x="6400800" y="9864547"/>
            <a:ext cx="118786"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4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7689847"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914400" y="443379"/>
            <a:ext cx="5757015" cy="188450"/>
          </a:xfrm>
          <a:prstGeom prst="rect">
            <a:avLst/>
          </a:prstGeom>
        </p:spPr>
        <p:txBody>
          <a:bodyPr lIns="0" tIns="0" rIns="0" bIns="0" rtlCol="0" anchor="t">
            <a:spAutoFit/>
          </a:bodyPr>
          <a:lstStyle/>
          <a:p>
            <a:pPr algn="l">
              <a:lnSpc>
                <a:spcPts val="1609"/>
              </a:lnSpc>
            </a:pPr>
            <a:r>
              <a:rPr lang="en-US" sz="1150" b="1" dirty="0">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657225" y="836590"/>
            <a:ext cx="129645"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 </a:t>
            </a:r>
          </a:p>
        </p:txBody>
      </p:sp>
      <p:sp>
        <p:nvSpPr>
          <p:cNvPr id="5" name="TextBox 5"/>
          <p:cNvSpPr txBox="1"/>
          <p:nvPr/>
        </p:nvSpPr>
        <p:spPr>
          <a:xfrm>
            <a:off x="657225" y="1242336"/>
            <a:ext cx="129645"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4 </a:t>
            </a:r>
          </a:p>
        </p:txBody>
      </p:sp>
      <p:sp>
        <p:nvSpPr>
          <p:cNvPr id="6" name="TextBox 6"/>
          <p:cNvSpPr txBox="1"/>
          <p:nvPr/>
        </p:nvSpPr>
        <p:spPr>
          <a:xfrm>
            <a:off x="657225" y="1648082"/>
            <a:ext cx="129645" cy="351177"/>
          </a:xfrm>
          <a:prstGeom prst="rect">
            <a:avLst/>
          </a:prstGeom>
        </p:spPr>
        <p:txBody>
          <a:bodyPr lIns="0" tIns="0" rIns="0" bIns="0" rtlCol="0" anchor="t">
            <a:spAutoFit/>
          </a:bodyPr>
          <a:lstStyle/>
          <a:p>
            <a:pPr algn="l">
              <a:lnSpc>
                <a:spcPts val="3000"/>
              </a:lnSpc>
            </a:pPr>
            <a:r>
              <a:rPr lang="en-US" sz="1200">
                <a:solidFill>
                  <a:srgbClr val="000000"/>
                </a:solidFill>
                <a:latin typeface="Arial"/>
                <a:ea typeface="Arial"/>
                <a:cs typeface="Arial"/>
                <a:sym typeface="Arial"/>
              </a:rPr>
              <a:t>5 </a:t>
            </a:r>
          </a:p>
        </p:txBody>
      </p:sp>
      <p:sp>
        <p:nvSpPr>
          <p:cNvPr id="7" name="TextBox 7"/>
          <p:cNvSpPr txBox="1"/>
          <p:nvPr/>
        </p:nvSpPr>
        <p:spPr>
          <a:xfrm>
            <a:off x="1143000" y="8071352"/>
            <a:ext cx="172831" cy="217827"/>
          </a:xfrm>
          <a:prstGeom prst="rect">
            <a:avLst/>
          </a:prstGeom>
        </p:spPr>
        <p:txBody>
          <a:bodyPr lIns="0" tIns="0" rIns="0" bIns="0" rtlCol="0" anchor="t">
            <a:spAutoFit/>
          </a:bodyPr>
          <a:lstStyle/>
          <a:p>
            <a:pPr algn="l">
              <a:lnSpc>
                <a:spcPts val="1679"/>
              </a:lnSpc>
            </a:pPr>
            <a:r>
              <a:rPr lang="en-US" sz="1200">
                <a:solidFill>
                  <a:srgbClr val="000000"/>
                </a:solidFill>
                <a:latin typeface="Arial"/>
                <a:ea typeface="Arial"/>
                <a:cs typeface="Arial"/>
                <a:sym typeface="Arial"/>
              </a:rPr>
              <a:t>1. </a:t>
            </a:r>
          </a:p>
        </p:txBody>
      </p:sp>
      <p:sp>
        <p:nvSpPr>
          <p:cNvPr id="8" name="TextBox 8"/>
          <p:cNvSpPr txBox="1"/>
          <p:nvPr/>
        </p:nvSpPr>
        <p:spPr>
          <a:xfrm>
            <a:off x="1143000" y="8859955"/>
            <a:ext cx="172831" cy="217827"/>
          </a:xfrm>
          <a:prstGeom prst="rect">
            <a:avLst/>
          </a:prstGeom>
        </p:spPr>
        <p:txBody>
          <a:bodyPr lIns="0" tIns="0" rIns="0" bIns="0" rtlCol="0" anchor="t">
            <a:spAutoFit/>
          </a:bodyPr>
          <a:lstStyle/>
          <a:p>
            <a:pPr algn="l">
              <a:lnSpc>
                <a:spcPts val="1679"/>
              </a:lnSpc>
            </a:pPr>
            <a:r>
              <a:rPr lang="en-US" sz="1200">
                <a:solidFill>
                  <a:srgbClr val="000000"/>
                </a:solidFill>
                <a:latin typeface="Arial"/>
                <a:ea typeface="Arial"/>
                <a:cs typeface="Arial"/>
                <a:sym typeface="Arial"/>
              </a:rPr>
              <a:t>2. </a:t>
            </a:r>
          </a:p>
        </p:txBody>
      </p:sp>
      <p:sp>
        <p:nvSpPr>
          <p:cNvPr id="9" name="TextBox 9"/>
          <p:cNvSpPr txBox="1"/>
          <p:nvPr/>
        </p:nvSpPr>
        <p:spPr>
          <a:xfrm>
            <a:off x="571500" y="3039932"/>
            <a:ext cx="1615659" cy="199542"/>
          </a:xfrm>
          <a:prstGeom prst="rect">
            <a:avLst/>
          </a:prstGeom>
        </p:spPr>
        <p:txBody>
          <a:bodyPr lIns="0" tIns="0" rIns="0" bIns="0" rtlCol="0" anchor="t">
            <a:spAutoFit/>
          </a:bodyPr>
          <a:lstStyle/>
          <a:p>
            <a:pPr algn="l">
              <a:lnSpc>
                <a:spcPts val="167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General Internet Users </a:t>
            </a:r>
          </a:p>
        </p:txBody>
      </p:sp>
      <p:sp>
        <p:nvSpPr>
          <p:cNvPr id="10" name="TextBox 10"/>
          <p:cNvSpPr txBox="1"/>
          <p:nvPr/>
        </p:nvSpPr>
        <p:spPr>
          <a:xfrm>
            <a:off x="571500" y="3575190"/>
            <a:ext cx="1728073"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Students &amp; Researchers </a:t>
            </a:r>
          </a:p>
        </p:txBody>
      </p:sp>
      <p:sp>
        <p:nvSpPr>
          <p:cNvPr id="11" name="TextBox 11"/>
          <p:cNvSpPr txBox="1"/>
          <p:nvPr/>
        </p:nvSpPr>
        <p:spPr>
          <a:xfrm>
            <a:off x="571500" y="3980936"/>
            <a:ext cx="1451477"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Security Enthusiasts </a:t>
            </a:r>
          </a:p>
        </p:txBody>
      </p:sp>
      <p:sp>
        <p:nvSpPr>
          <p:cNvPr id="12" name="TextBox 12"/>
          <p:cNvSpPr txBox="1"/>
          <p:nvPr/>
        </p:nvSpPr>
        <p:spPr>
          <a:xfrm>
            <a:off x="571500" y="4386672"/>
            <a:ext cx="829466"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Developers </a:t>
            </a:r>
          </a:p>
        </p:txBody>
      </p:sp>
      <p:sp>
        <p:nvSpPr>
          <p:cNvPr id="13" name="TextBox 13"/>
          <p:cNvSpPr txBox="1"/>
          <p:nvPr/>
        </p:nvSpPr>
        <p:spPr>
          <a:xfrm>
            <a:off x="914400" y="5416601"/>
            <a:ext cx="4397854" cy="276486"/>
          </a:xfrm>
          <a:prstGeom prst="rect">
            <a:avLst/>
          </a:prstGeom>
        </p:spPr>
        <p:txBody>
          <a:bodyPr lIns="0" tIns="0" rIns="0" bIns="0" rtlCol="0" anchor="t">
            <a:spAutoFit/>
          </a:bodyPr>
          <a:lstStyle/>
          <a:p>
            <a:pPr algn="l">
              <a:lnSpc>
                <a:spcPts val="2469"/>
              </a:lnSpc>
            </a:pPr>
            <a:r>
              <a:rPr lang="en-US" sz="1200" dirty="0">
                <a:solidFill>
                  <a:srgbClr val="434343"/>
                </a:solidFill>
                <a:latin typeface="Times New Roman" panose="02020603050405020304" pitchFamily="18" charset="0"/>
                <a:ea typeface="Arial"/>
                <a:cs typeface="Times New Roman" panose="02020603050405020304" pitchFamily="18" charset="0"/>
                <a:sym typeface="Arial"/>
              </a:rPr>
              <a:t>Existing phishing detection systems fall into 6 major categories: </a:t>
            </a:r>
          </a:p>
        </p:txBody>
      </p:sp>
      <p:sp>
        <p:nvSpPr>
          <p:cNvPr id="14" name="TextBox 14"/>
          <p:cNvSpPr txBox="1"/>
          <p:nvPr/>
        </p:nvSpPr>
        <p:spPr>
          <a:xfrm>
            <a:off x="1143000" y="5730269"/>
            <a:ext cx="2712749" cy="1608363"/>
          </a:xfrm>
          <a:prstGeom prst="rect">
            <a:avLst/>
          </a:prstGeom>
        </p:spPr>
        <p:txBody>
          <a:bodyPr lIns="0" tIns="0" rIns="0" bIns="0" rtlCol="0" anchor="t">
            <a:spAutoFit/>
          </a:bodyPr>
          <a:lstStyle/>
          <a:p>
            <a:pPr algn="l">
              <a:lnSpc>
                <a:spcPts val="246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Blacklist-Based Detection </a:t>
            </a:r>
          </a:p>
          <a:p>
            <a:pPr algn="l">
              <a:lnSpc>
                <a:spcPts val="1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Heuristic / Rule-Based Detection </a:t>
            </a:r>
          </a:p>
          <a:p>
            <a:pPr algn="l">
              <a:lnSpc>
                <a:spcPts val="246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Visual Similarity-Based Detection </a:t>
            </a:r>
          </a:p>
          <a:p>
            <a:pPr algn="l">
              <a:lnSpc>
                <a:spcPts val="1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Early / Limited ML-Based Detection </a:t>
            </a:r>
          </a:p>
          <a:p>
            <a:pPr algn="l">
              <a:lnSpc>
                <a:spcPts val="2469"/>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Browser Built-in Protection </a:t>
            </a:r>
          </a:p>
          <a:p>
            <a:pPr algn="l">
              <a:lnSpc>
                <a:spcPts val="16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Third-Party Security APIs </a:t>
            </a:r>
          </a:p>
        </p:txBody>
      </p:sp>
      <p:sp>
        <p:nvSpPr>
          <p:cNvPr id="15" name="TextBox 15"/>
          <p:cNvSpPr txBox="1"/>
          <p:nvPr/>
        </p:nvSpPr>
        <p:spPr>
          <a:xfrm>
            <a:off x="1019175" y="836590"/>
            <a:ext cx="578910" cy="324384"/>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Feature</a:t>
            </a:r>
            <a:r>
              <a:rPr lang="en-US" sz="1200" dirty="0">
                <a:solidFill>
                  <a:srgbClr val="000000"/>
                </a:solidFill>
                <a:latin typeface="Arial"/>
                <a:ea typeface="Arial"/>
                <a:cs typeface="Arial"/>
                <a:sym typeface="Arial"/>
              </a:rPr>
              <a:t> </a:t>
            </a:r>
          </a:p>
        </p:txBody>
      </p:sp>
      <p:sp>
        <p:nvSpPr>
          <p:cNvPr id="16" name="TextBox 16"/>
          <p:cNvSpPr txBox="1"/>
          <p:nvPr/>
        </p:nvSpPr>
        <p:spPr>
          <a:xfrm>
            <a:off x="1019175" y="1242336"/>
            <a:ext cx="4596422"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NLP-based webpage content analysis (keywords, forms, link ratio) </a:t>
            </a:r>
          </a:p>
        </p:txBody>
      </p:sp>
      <p:sp>
        <p:nvSpPr>
          <p:cNvPr id="17" name="TextBox 17"/>
          <p:cNvSpPr txBox="1"/>
          <p:nvPr/>
        </p:nvSpPr>
        <p:spPr>
          <a:xfrm>
            <a:off x="1019175" y="1648082"/>
            <a:ext cx="3715188"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ML-based binary classification (Phishing / Legitimate) </a:t>
            </a:r>
          </a:p>
        </p:txBody>
      </p:sp>
      <p:sp>
        <p:nvSpPr>
          <p:cNvPr id="18" name="TextBox 18"/>
          <p:cNvSpPr txBox="1"/>
          <p:nvPr/>
        </p:nvSpPr>
        <p:spPr>
          <a:xfrm>
            <a:off x="914400" y="2110969"/>
            <a:ext cx="1114625" cy="324576"/>
          </a:xfrm>
          <a:prstGeom prst="rect">
            <a:avLst/>
          </a:prstGeom>
        </p:spPr>
        <p:txBody>
          <a:bodyPr lIns="0" tIns="0" rIns="0" bIns="0" rtlCol="0" anchor="t">
            <a:spAutoFit/>
          </a:bodyPr>
          <a:lstStyle/>
          <a:p>
            <a:pPr algn="l">
              <a:lnSpc>
                <a:spcPts val="3000"/>
              </a:lnSpc>
            </a:pPr>
            <a:r>
              <a:rPr lang="en-US" sz="1200" dirty="0">
                <a:solidFill>
                  <a:srgbClr val="434343"/>
                </a:solidFill>
                <a:latin typeface="Times New Roman" panose="02020603050405020304" pitchFamily="18" charset="0"/>
                <a:ea typeface="Arial"/>
                <a:cs typeface="Times New Roman" panose="02020603050405020304" pitchFamily="18" charset="0"/>
                <a:sym typeface="Arial"/>
              </a:rPr>
              <a:t>3.3 User Scope </a:t>
            </a:r>
          </a:p>
        </p:txBody>
      </p:sp>
      <p:sp>
        <p:nvSpPr>
          <p:cNvPr id="19" name="TextBox 19"/>
          <p:cNvSpPr txBox="1"/>
          <p:nvPr/>
        </p:nvSpPr>
        <p:spPr>
          <a:xfrm>
            <a:off x="3429000" y="3001832"/>
            <a:ext cx="1909172" cy="518789"/>
          </a:xfrm>
          <a:prstGeom prst="rect">
            <a:avLst/>
          </a:prstGeom>
        </p:spPr>
        <p:txBody>
          <a:bodyPr lIns="0" tIns="0" rIns="0" bIns="0" rtlCol="0" anchor="t">
            <a:spAutoFit/>
          </a:bodyPr>
          <a:lstStyle/>
          <a:p>
            <a:pPr algn="l">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Verify suspicious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linksfrom</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emails/WhatsApp </a:t>
            </a:r>
          </a:p>
        </p:txBody>
      </p:sp>
      <p:sp>
        <p:nvSpPr>
          <p:cNvPr id="20" name="TextBox 20"/>
          <p:cNvSpPr txBox="1"/>
          <p:nvPr/>
        </p:nvSpPr>
        <p:spPr>
          <a:xfrm>
            <a:off x="3429000" y="3575190"/>
            <a:ext cx="2514419"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Study ML models, phishing patterns </a:t>
            </a:r>
          </a:p>
        </p:txBody>
      </p:sp>
      <p:sp>
        <p:nvSpPr>
          <p:cNvPr id="21" name="TextBox 21"/>
          <p:cNvSpPr txBox="1"/>
          <p:nvPr/>
        </p:nvSpPr>
        <p:spPr>
          <a:xfrm>
            <a:off x="3429000" y="3980936"/>
            <a:ext cx="2203447"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Analyze URL feature reasoning </a:t>
            </a:r>
          </a:p>
        </p:txBody>
      </p:sp>
      <p:sp>
        <p:nvSpPr>
          <p:cNvPr id="22" name="TextBox 22"/>
          <p:cNvSpPr txBox="1"/>
          <p:nvPr/>
        </p:nvSpPr>
        <p:spPr>
          <a:xfrm>
            <a:off x="3429000" y="4386672"/>
            <a:ext cx="2306898" cy="324576"/>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Base for browser extension / API </a:t>
            </a:r>
          </a:p>
        </p:txBody>
      </p:sp>
      <p:sp>
        <p:nvSpPr>
          <p:cNvPr id="23" name="TextBox 23"/>
          <p:cNvSpPr txBox="1"/>
          <p:nvPr/>
        </p:nvSpPr>
        <p:spPr>
          <a:xfrm>
            <a:off x="1371600" y="8033252"/>
            <a:ext cx="5305196" cy="1315232"/>
          </a:xfrm>
          <a:prstGeom prst="rect">
            <a:avLst/>
          </a:prstGeom>
        </p:spPr>
        <p:txBody>
          <a:bodyPr lIns="0" tIns="0" rIns="0" bIns="0" rtlCol="0" anchor="t">
            <a:spAutoFit/>
          </a:bodyPr>
          <a:lstStyle/>
          <a:p>
            <a:pPr algn="l">
              <a:lnSpc>
                <a:spcPts val="2070"/>
              </a:lnSpc>
            </a:pP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Completely Reactive:</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Blacklists only block already-discovered URLs hours to days after launch, leaving a window during which thousands of users fall victim. Zero-day phishing is invisible.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Easily Bypassed:</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Minor URL changes (subdomains, encoding, parameters, shorteners) create infinite unblocked variants because blacklists store exact URLs. </a:t>
            </a:r>
          </a:p>
        </p:txBody>
      </p:sp>
      <p:sp>
        <p:nvSpPr>
          <p:cNvPr id="24" name="TextBox 24"/>
          <p:cNvSpPr txBox="1"/>
          <p:nvPr/>
        </p:nvSpPr>
        <p:spPr>
          <a:xfrm>
            <a:off x="914400" y="7614857"/>
            <a:ext cx="1329795" cy="234423"/>
          </a:xfrm>
          <a:prstGeom prst="rect">
            <a:avLst/>
          </a:prstGeom>
        </p:spPr>
        <p:txBody>
          <a:bodyPr lIns="0" tIns="0" rIns="0" bIns="0" rtlCol="0" anchor="t">
            <a:spAutoFit/>
          </a:bodyPr>
          <a:lstStyle/>
          <a:p>
            <a:pPr algn="l">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Disadvantages </a:t>
            </a:r>
          </a:p>
        </p:txBody>
      </p:sp>
      <p:sp>
        <p:nvSpPr>
          <p:cNvPr id="25" name="TextBox 25"/>
          <p:cNvSpPr txBox="1"/>
          <p:nvPr/>
        </p:nvSpPr>
        <p:spPr>
          <a:xfrm>
            <a:off x="914400" y="5091639"/>
            <a:ext cx="1450600" cy="234423"/>
          </a:xfrm>
          <a:prstGeom prst="rect">
            <a:avLst/>
          </a:prstGeom>
        </p:spPr>
        <p:txBody>
          <a:bodyPr lIns="0" tIns="0" rIns="0" bIns="0" rtlCol="0" anchor="t">
            <a:spAutoFit/>
          </a:bodyPr>
          <a:lstStyle/>
          <a:p>
            <a:pPr algn="l">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Existing System </a:t>
            </a:r>
          </a:p>
        </p:txBody>
      </p:sp>
      <p:sp>
        <p:nvSpPr>
          <p:cNvPr id="26" name="TextBox 26"/>
          <p:cNvSpPr txBox="1"/>
          <p:nvPr/>
        </p:nvSpPr>
        <p:spPr>
          <a:xfrm>
            <a:off x="1570768" y="2634186"/>
            <a:ext cx="783317"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User Type</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t>
            </a:r>
          </a:p>
        </p:txBody>
      </p:sp>
      <p:sp>
        <p:nvSpPr>
          <p:cNvPr id="27" name="TextBox 27"/>
          <p:cNvSpPr txBox="1"/>
          <p:nvPr/>
        </p:nvSpPr>
        <p:spPr>
          <a:xfrm>
            <a:off x="4562361" y="2642073"/>
            <a:ext cx="466573" cy="199350"/>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U</a:t>
            </a:r>
            <a:r>
              <a:rPr lang="en-US" sz="1200" b="1" dirty="0">
                <a:solidFill>
                  <a:srgbClr val="000000"/>
                </a:solidFill>
                <a:latin typeface="Arial Bold"/>
                <a:ea typeface="Arial Bold"/>
                <a:cs typeface="Arial Bold"/>
                <a:sym typeface="Arial Bold"/>
              </a:rPr>
              <a:t>sage</a:t>
            </a:r>
          </a:p>
        </p:txBody>
      </p:sp>
      <p:sp>
        <p:nvSpPr>
          <p:cNvPr id="28" name="TextBox 28"/>
          <p:cNvSpPr txBox="1"/>
          <p:nvPr/>
        </p:nvSpPr>
        <p:spPr>
          <a:xfrm>
            <a:off x="914400" y="9679810"/>
            <a:ext cx="582061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_________________________________________________________________________ </a:t>
            </a:r>
          </a:p>
        </p:txBody>
      </p:sp>
      <p:sp>
        <p:nvSpPr>
          <p:cNvPr id="29" name="TextBox 29"/>
          <p:cNvSpPr txBox="1"/>
          <p:nvPr/>
        </p:nvSpPr>
        <p:spPr>
          <a:xfrm>
            <a:off x="914400" y="9864538"/>
            <a:ext cx="1875053"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Dept. of ISE, GNDEC, Bidar </a:t>
            </a:r>
          </a:p>
        </p:txBody>
      </p:sp>
      <p:sp>
        <p:nvSpPr>
          <p:cNvPr id="30" name="TextBox 30"/>
          <p:cNvSpPr txBox="1"/>
          <p:nvPr/>
        </p:nvSpPr>
        <p:spPr>
          <a:xfrm>
            <a:off x="6400800" y="9864538"/>
            <a:ext cx="118786" cy="193319"/>
          </a:xfrm>
          <a:prstGeom prst="rect">
            <a:avLst/>
          </a:prstGeom>
        </p:spPr>
        <p:txBody>
          <a:bodyPr lIns="0" tIns="0" rIns="0" bIns="0" rtlCol="0" anchor="t">
            <a:spAutoFit/>
          </a:bodyPr>
          <a:lstStyle/>
          <a:p>
            <a:pPr algn="l">
              <a:lnSpc>
                <a:spcPts val="1454"/>
              </a:lnSpc>
            </a:pPr>
            <a:r>
              <a:rPr lang="en-US" sz="1100" b="1">
                <a:solidFill>
                  <a:srgbClr val="000000"/>
                </a:solidFill>
                <a:latin typeface="Arial Bold"/>
                <a:ea typeface="Arial Bold"/>
                <a:cs typeface="Arial Bold"/>
                <a:sym typeface="Arial Bold"/>
              </a:rPr>
              <a:t>5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035050" y="319988"/>
            <a:ext cx="5891884" cy="188450"/>
          </a:xfrm>
          <a:prstGeom prst="rect">
            <a:avLst/>
          </a:prstGeom>
        </p:spPr>
        <p:txBody>
          <a:bodyPr wrap="square" lIns="0" tIns="0" rIns="0" bIns="0" rtlCol="0" anchor="t">
            <a:spAutoFit/>
          </a:bodyPr>
          <a:lstStyle/>
          <a:p>
            <a:pPr algn="just">
              <a:lnSpc>
                <a:spcPts val="1609"/>
              </a:lnSpc>
            </a:pPr>
            <a:r>
              <a:rPr lang="en-US" sz="1150" b="1" u="sng" dirty="0">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886864" y="850197"/>
            <a:ext cx="5782772" cy="1045927"/>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3.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Short-Lived Domains Retire Undetected:</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Fast-flux phishing domains are registered, used, and decommissioned within 12-24 hours, completing the damage before blocklist detection can occur.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6" name="TextBox 6"/>
          <p:cNvSpPr txBox="1"/>
          <p:nvPr/>
        </p:nvSpPr>
        <p:spPr>
          <a:xfrm>
            <a:off x="869253" y="1654124"/>
            <a:ext cx="5782773" cy="507318"/>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4.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Massive Maintenance Overhead:</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Manual verification by large security teams creates a time-lagged bottleneck, ensuring the blacklist is always behind active campaigns. </a:t>
            </a:r>
          </a:p>
        </p:txBody>
      </p:sp>
      <p:sp>
        <p:nvSpPr>
          <p:cNvPr id="7" name="TextBox 7"/>
          <p:cNvSpPr txBox="1"/>
          <p:nvPr/>
        </p:nvSpPr>
        <p:spPr>
          <a:xfrm>
            <a:off x="886863" y="2993391"/>
            <a:ext cx="5723017" cy="1315232"/>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The proposed system is an Advanced AI-Based Phishing Website Detection System that uses AI, ML, and NLP to identify phishing websites in real-time. It moves beyond a single URL check by unifying analysis across three essential tiers: the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URL's structure</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the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domain's properties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and the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webpage's content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System Architecture — Five Stages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8" name="TextBox 8"/>
          <p:cNvSpPr txBox="1"/>
          <p:nvPr/>
        </p:nvSpPr>
        <p:spPr>
          <a:xfrm>
            <a:off x="1115464" y="3377951"/>
            <a:ext cx="5509104" cy="238014"/>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c</a:t>
            </a:r>
          </a:p>
        </p:txBody>
      </p:sp>
      <p:sp>
        <p:nvSpPr>
          <p:cNvPr id="9" name="TextBox 9"/>
          <p:cNvSpPr txBox="1"/>
          <p:nvPr/>
        </p:nvSpPr>
        <p:spPr>
          <a:xfrm>
            <a:off x="886863" y="4228249"/>
            <a:ext cx="5694289" cy="738664"/>
          </a:xfrm>
          <a:prstGeom prst="rect">
            <a:avLst/>
          </a:prstGeom>
        </p:spPr>
        <p:txBody>
          <a:bodyPr wrap="square" lIns="0" tIns="0" rIns="0" bIns="0" rtlCol="0" anchor="t">
            <a:spAutoFit/>
          </a:bodyPr>
          <a:lstStyle/>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URL Input and Validation:</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Accepts the URL, validates its format and reachability, and flags invalid inputs. </a:t>
            </a:r>
          </a:p>
          <a:p>
            <a:pPr algn="just"/>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1" name="TextBox 11"/>
          <p:cNvSpPr txBox="1"/>
          <p:nvPr/>
        </p:nvSpPr>
        <p:spPr>
          <a:xfrm>
            <a:off x="886863" y="4769329"/>
            <a:ext cx="5761083" cy="1094017"/>
          </a:xfrm>
          <a:prstGeom prst="rect">
            <a:avLst/>
          </a:prstGeom>
        </p:spPr>
        <p:txBody>
          <a:bodyPr wrap="square"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2.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Three-Tier Feature Extraction:</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Extracts a minimum of 20 features simultaneously across the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URL, Domain, and Content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tiers. </a:t>
            </a:r>
          </a:p>
          <a:p>
            <a:pPr algn="just">
              <a:lnSpc>
                <a:spcPts val="300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3" name="TextBox 13"/>
          <p:cNvSpPr txBox="1"/>
          <p:nvPr/>
        </p:nvSpPr>
        <p:spPr>
          <a:xfrm>
            <a:off x="865996" y="5627220"/>
            <a:ext cx="5764749" cy="1155573"/>
          </a:xfrm>
          <a:prstGeom prst="rect">
            <a:avLst/>
          </a:prstGeom>
        </p:spPr>
        <p:txBody>
          <a:bodyPr wrap="square" lIns="0" tIns="0" rIns="0" bIns="0" rtlCol="0" anchor="t">
            <a:spAutoFit/>
          </a:bodyPr>
          <a:lstStyle/>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3.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Machine Learning Classification:</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Feeds the feature vector into a trained ML model (expected to be </a:t>
            </a:r>
            <a:r>
              <a:rPr lang="en-US" sz="1200" b="1" dirty="0" err="1">
                <a:solidFill>
                  <a:srgbClr val="000000"/>
                </a:solidFill>
                <a:latin typeface="Times New Roman" panose="02020603050405020304" pitchFamily="18" charset="0"/>
                <a:ea typeface="Arial Bold"/>
                <a:cs typeface="Times New Roman" panose="02020603050405020304" pitchFamily="18" charset="0"/>
                <a:sym typeface="Arial Bold"/>
              </a:rPr>
              <a:t>XGBoost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which assigns a binary label (Phishing/Legitimate) and a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Risk Score (0-100)</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t>
            </a:r>
          </a:p>
          <a:p>
            <a:pPr algn="just">
              <a:lnSpc>
                <a:spcPts val="300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5" name="TextBox 15"/>
          <p:cNvSpPr txBox="1"/>
          <p:nvPr/>
        </p:nvSpPr>
        <p:spPr>
          <a:xfrm>
            <a:off x="886864" y="7016710"/>
            <a:ext cx="5782772"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Proactive Detection:</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Uses machine learning to find new phishing URLs, unlike reactive blacklist-based methods.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7" name="TextBox 17"/>
          <p:cNvSpPr txBox="1"/>
          <p:nvPr/>
        </p:nvSpPr>
        <p:spPr>
          <a:xfrm>
            <a:off x="886863" y="7635312"/>
            <a:ext cx="5835651"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2.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Multi-Layer Analysis: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Harder for attackers to bypass by analyzing URL structure, domain, and content together.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9" name="TextBox 19"/>
          <p:cNvSpPr txBox="1"/>
          <p:nvPr/>
        </p:nvSpPr>
        <p:spPr>
          <a:xfrm>
            <a:off x="886864" y="8161044"/>
            <a:ext cx="5782772"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3.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High Accuracy:</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Machine learning achieves &gt;95% accuracy, outperforming rule-based tools.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21" name="TextBox 21"/>
          <p:cNvSpPr txBox="1"/>
          <p:nvPr/>
        </p:nvSpPr>
        <p:spPr>
          <a:xfrm>
            <a:off x="870353" y="8654839"/>
            <a:ext cx="5641410"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4.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Interpretable Results: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Provides feature-level explanations and a Risk Score (0-100) for clarity on flagging.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23" name="TextBox 23"/>
          <p:cNvSpPr txBox="1"/>
          <p:nvPr/>
        </p:nvSpPr>
        <p:spPr>
          <a:xfrm>
            <a:off x="902104" y="9255155"/>
            <a:ext cx="5782773"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5.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Low False Positives: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Holistic feature evaluation reduces incorrect blocking of  </a:t>
            </a:r>
            <a:r>
              <a:rPr lang="en-US" sz="1200" dirty="0">
                <a:solidFill>
                  <a:srgbClr val="000000"/>
                </a:solidFill>
                <a:latin typeface="Arial"/>
                <a:ea typeface="Arial"/>
                <a:cs typeface="Arial"/>
                <a:sym typeface="Arial"/>
              </a:rPr>
              <a:t>legitimate sites common in heuristic tools.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24" name="TextBox 24"/>
          <p:cNvSpPr txBox="1"/>
          <p:nvPr/>
        </p:nvSpPr>
        <p:spPr>
          <a:xfrm>
            <a:off x="662870" y="6643725"/>
            <a:ext cx="1103070" cy="234423"/>
          </a:xfrm>
          <a:prstGeom prst="rect">
            <a:avLst/>
          </a:prstGeom>
        </p:spPr>
        <p:txBody>
          <a:bodyPr wrap="square" lIns="0" tIns="0" rIns="0" bIns="0" rtlCol="0" anchor="t">
            <a:spAutoFit/>
          </a:bodyPr>
          <a:lstStyle/>
          <a:p>
            <a:pPr algn="just">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Advantages </a:t>
            </a:r>
          </a:p>
        </p:txBody>
      </p:sp>
      <p:sp>
        <p:nvSpPr>
          <p:cNvPr id="25" name="TextBox 25"/>
          <p:cNvSpPr txBox="1"/>
          <p:nvPr/>
        </p:nvSpPr>
        <p:spPr>
          <a:xfrm>
            <a:off x="658264" y="2573364"/>
            <a:ext cx="1618543" cy="234423"/>
          </a:xfrm>
          <a:prstGeom prst="rect">
            <a:avLst/>
          </a:prstGeom>
        </p:spPr>
        <p:txBody>
          <a:bodyPr wrap="square" lIns="0" tIns="0" rIns="0" bIns="0" rtlCol="0" anchor="t">
            <a:spAutoFit/>
          </a:bodyPr>
          <a:lstStyle/>
          <a:p>
            <a:pPr algn="just">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Proposed System </a:t>
            </a:r>
          </a:p>
        </p:txBody>
      </p:sp>
      <p:sp>
        <p:nvSpPr>
          <p:cNvPr id="26" name="TextBox 26"/>
          <p:cNvSpPr txBox="1"/>
          <p:nvPr/>
        </p:nvSpPr>
        <p:spPr>
          <a:xfrm>
            <a:off x="826202" y="9692689"/>
            <a:ext cx="5956972" cy="176395"/>
          </a:xfrm>
          <a:prstGeom prst="rect">
            <a:avLst/>
          </a:prstGeom>
        </p:spPr>
        <p:txBody>
          <a:bodyPr wrap="square" lIns="0" tIns="0" rIns="0" bIns="0" rtlCol="0" anchor="t">
            <a:spAutoFit/>
          </a:bodyPr>
          <a:lstStyle/>
          <a:p>
            <a:pPr algn="just">
              <a:lnSpc>
                <a:spcPts val="1454"/>
              </a:lnSpc>
            </a:pPr>
            <a:r>
              <a:rPr lang="en-US" sz="1100" b="1" dirty="0">
                <a:solidFill>
                  <a:srgbClr val="000000"/>
                </a:solidFill>
                <a:latin typeface="Arial Bold"/>
                <a:ea typeface="Arial Bold"/>
                <a:cs typeface="Arial Bold"/>
                <a:sym typeface="Arial Bold"/>
              </a:rPr>
              <a:t>_________________________________________________________________________ </a:t>
            </a:r>
          </a:p>
        </p:txBody>
      </p:sp>
      <p:sp>
        <p:nvSpPr>
          <p:cNvPr id="27" name="TextBox 27"/>
          <p:cNvSpPr txBox="1"/>
          <p:nvPr/>
        </p:nvSpPr>
        <p:spPr>
          <a:xfrm>
            <a:off x="806450" y="9879476"/>
            <a:ext cx="1918980" cy="176395"/>
          </a:xfrm>
          <a:prstGeom prst="rect">
            <a:avLst/>
          </a:prstGeom>
        </p:spPr>
        <p:txBody>
          <a:bodyPr wrap="square" lIns="0" tIns="0" rIns="0" bIns="0" rtlCol="0" anchor="t">
            <a:spAutoFit/>
          </a:bodyPr>
          <a:lstStyle/>
          <a:p>
            <a:pPr algn="just">
              <a:lnSpc>
                <a:spcPts val="1454"/>
              </a:lnSpc>
            </a:pPr>
            <a:r>
              <a:rPr lang="en-US" sz="1100" b="1">
                <a:solidFill>
                  <a:srgbClr val="000000"/>
                </a:solidFill>
                <a:latin typeface="Arial Bold"/>
                <a:ea typeface="Arial Bold"/>
                <a:cs typeface="Arial Bold"/>
                <a:sym typeface="Arial Bold"/>
              </a:rPr>
              <a:t>Dept. of ISE, GNDEC, Bidar </a:t>
            </a:r>
          </a:p>
        </p:txBody>
      </p:sp>
      <p:sp>
        <p:nvSpPr>
          <p:cNvPr id="28" name="TextBox 28"/>
          <p:cNvSpPr txBox="1"/>
          <p:nvPr/>
        </p:nvSpPr>
        <p:spPr>
          <a:xfrm>
            <a:off x="6292849" y="9879476"/>
            <a:ext cx="121569" cy="176395"/>
          </a:xfrm>
          <a:prstGeom prst="rect">
            <a:avLst/>
          </a:prstGeom>
        </p:spPr>
        <p:txBody>
          <a:bodyPr wrap="square" lIns="0" tIns="0" rIns="0" bIns="0" rtlCol="0" anchor="t">
            <a:spAutoFit/>
          </a:bodyPr>
          <a:lstStyle/>
          <a:p>
            <a:pPr algn="just">
              <a:lnSpc>
                <a:spcPts val="1454"/>
              </a:lnSpc>
            </a:pPr>
            <a:r>
              <a:rPr lang="en-US" sz="1100" b="1" dirty="0">
                <a:solidFill>
                  <a:srgbClr val="000000"/>
                </a:solidFill>
                <a:latin typeface="Arial Bold"/>
                <a:ea typeface="Arial Bold"/>
                <a:cs typeface="Arial Bold"/>
                <a:sym typeface="Arial Bold"/>
              </a:rPr>
              <a:t>6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4150" y="-63500"/>
            <a:ext cx="7614803"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algn="just"/>
            <a:endParaRPr lang="en-IN">
              <a:latin typeface="Times New Roman" panose="02020603050405020304" pitchFamily="18" charset="0"/>
              <a:cs typeface="Times New Roman" panose="02020603050405020304" pitchFamily="18" charset="0"/>
            </a:endParaRPr>
          </a:p>
        </p:txBody>
      </p:sp>
      <p:sp>
        <p:nvSpPr>
          <p:cNvPr id="3" name="TextBox 3"/>
          <p:cNvSpPr txBox="1"/>
          <p:nvPr/>
        </p:nvSpPr>
        <p:spPr>
          <a:xfrm>
            <a:off x="914400" y="443379"/>
            <a:ext cx="5700833" cy="188450"/>
          </a:xfrm>
          <a:prstGeom prst="rect">
            <a:avLst/>
          </a:prstGeom>
        </p:spPr>
        <p:txBody>
          <a:bodyPr wrap="square" lIns="0" tIns="0" rIns="0" bIns="0" rtlCol="0" anchor="t">
            <a:spAutoFit/>
          </a:bodyPr>
          <a:lstStyle/>
          <a:p>
            <a:pPr algn="just">
              <a:lnSpc>
                <a:spcPts val="1609"/>
              </a:lnSpc>
            </a:pPr>
            <a:r>
              <a:rPr lang="en-US" sz="1150" b="1">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1160839" y="5424239"/>
            <a:ext cx="171144" cy="1044531"/>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1. 2. 3. 4. </a:t>
            </a:r>
          </a:p>
        </p:txBody>
      </p:sp>
      <p:sp>
        <p:nvSpPr>
          <p:cNvPr id="5" name="TextBox 5"/>
          <p:cNvSpPr txBox="1"/>
          <p:nvPr/>
        </p:nvSpPr>
        <p:spPr>
          <a:xfrm>
            <a:off x="1160839" y="7276165"/>
            <a:ext cx="171144" cy="1045927"/>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1. 2. 3.</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4. </a:t>
            </a:r>
          </a:p>
        </p:txBody>
      </p:sp>
      <p:sp>
        <p:nvSpPr>
          <p:cNvPr id="8" name="TextBox 8"/>
          <p:cNvSpPr txBox="1"/>
          <p:nvPr/>
        </p:nvSpPr>
        <p:spPr>
          <a:xfrm>
            <a:off x="1358440" y="7269871"/>
            <a:ext cx="5149850" cy="1045927"/>
          </a:xfrm>
          <a:prstGeom prst="rect">
            <a:avLst/>
          </a:prstGeom>
        </p:spPr>
        <p:txBody>
          <a:bodyPr wrap="square" lIns="0" tIns="0" rIns="0" bIns="0" rtlCol="0" anchor="t">
            <a:spAutoFit/>
          </a:bodyPr>
          <a:lstStyle/>
          <a:p>
            <a:pPr algn="just">
              <a:lnSpc>
                <a:spcPts val="2070"/>
              </a:lnSpc>
            </a:pP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OS: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Windows 10/11, Ubuntu, or macOS (must support Python 3.x).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Programming Language:</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Python 3.8 or above.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ML Libraries:</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Scikit-learn (Logistic Regression, Random Forest),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XGBoost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(gradient boosting).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Data Handling:</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Pandas and NumPy for dataset management and feature </a:t>
            </a:r>
          </a:p>
        </p:txBody>
      </p:sp>
      <p:sp>
        <p:nvSpPr>
          <p:cNvPr id="9" name="TextBox 9"/>
          <p:cNvSpPr txBox="1"/>
          <p:nvPr/>
        </p:nvSpPr>
        <p:spPr>
          <a:xfrm>
            <a:off x="1358440" y="5411539"/>
            <a:ext cx="5158717" cy="1315232"/>
          </a:xfrm>
          <a:prstGeom prst="rect">
            <a:avLst/>
          </a:prstGeom>
        </p:spPr>
        <p:txBody>
          <a:bodyPr wrap="square" lIns="0" tIns="0" rIns="0" bIns="0" rtlCol="0" anchor="t">
            <a:spAutoFit/>
          </a:bodyPr>
          <a:lstStyle/>
          <a:p>
            <a:pPr algn="just">
              <a:lnSpc>
                <a:spcPts val="2070"/>
              </a:lnSpc>
            </a:pP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Processor:</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Intel Core i3 minimum (i5/i7 recommended for faster training).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RAM:</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Minimum 4 GB (8 GB+ recommended for smooth training/scraping).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Storage:</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Minimum 5 GB free disk space for data, models, and project files.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Internet: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Required for fetching live URL data (WHOIS, DNS, SSL) during feature extraction. </a:t>
            </a:r>
          </a:p>
        </p:txBody>
      </p:sp>
      <p:sp>
        <p:nvSpPr>
          <p:cNvPr id="10" name="TextBox 10"/>
          <p:cNvSpPr txBox="1"/>
          <p:nvPr/>
        </p:nvSpPr>
        <p:spPr>
          <a:xfrm>
            <a:off x="1143000" y="1484235"/>
            <a:ext cx="5472233"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High-Accuracy ML Model:</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 trained ML model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XGBoost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/Random Forest/Logistic Regression) classifying URLs as Phishing or Legitimate with $\geq$95% accuracy.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2" name="TextBox 12"/>
          <p:cNvSpPr txBox="1"/>
          <p:nvPr/>
        </p:nvSpPr>
        <p:spPr>
          <a:xfrm>
            <a:off x="1143000" y="2106833"/>
            <a:ext cx="5472233"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2.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Automated Feature Extraction:</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 pipeline extracting URL, domain, and NLP features automatically from any submitted URL. </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a:t>
            </a:r>
          </a:p>
        </p:txBody>
      </p:sp>
      <p:sp>
        <p:nvSpPr>
          <p:cNvPr id="14" name="TextBox 14"/>
          <p:cNvSpPr txBox="1"/>
          <p:nvPr/>
        </p:nvSpPr>
        <p:spPr>
          <a:xfrm>
            <a:off x="1160839" y="2664498"/>
            <a:ext cx="5267024"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3.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Real-Time Risk Scoring:</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 0-100 Risk Score providing immediate threat level understanding for every URL.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6" name="TextBox 16"/>
          <p:cNvSpPr txBox="1"/>
          <p:nvPr/>
        </p:nvSpPr>
        <p:spPr>
          <a:xfrm>
            <a:off x="1160839" y="3221081"/>
            <a:ext cx="5394801" cy="1045927"/>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4.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Comparative Model Report: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Detailed performance comparison (Accuracy, F1, Precision, Recall, AUC-ROC) of Logistic Regression, Random Forest, and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XGBoost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models.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8" name="TextBox 18"/>
          <p:cNvSpPr txBox="1"/>
          <p:nvPr/>
        </p:nvSpPr>
        <p:spPr>
          <a:xfrm>
            <a:off x="1126435" y="4008797"/>
            <a:ext cx="5303630"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5.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Transparent Explanation Report: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 clear report for each analysis, listing suspicious features and explaining the phishing classification in plain language.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20" name="TextBox 20"/>
          <p:cNvSpPr txBox="1"/>
          <p:nvPr/>
        </p:nvSpPr>
        <p:spPr>
          <a:xfrm>
            <a:off x="1126435" y="6942214"/>
            <a:ext cx="867663" cy="234423"/>
          </a:xfrm>
          <a:prstGeom prst="rect">
            <a:avLst/>
          </a:prstGeom>
        </p:spPr>
        <p:txBody>
          <a:bodyPr wrap="square" lIns="0" tIns="0" rIns="0" bIns="0" rtlCol="0" anchor="t">
            <a:spAutoFit/>
          </a:bodyPr>
          <a:lstStyle/>
          <a:p>
            <a:pPr algn="just">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Software: </a:t>
            </a:r>
          </a:p>
        </p:txBody>
      </p:sp>
      <p:sp>
        <p:nvSpPr>
          <p:cNvPr id="21" name="TextBox 21"/>
          <p:cNvSpPr txBox="1"/>
          <p:nvPr/>
        </p:nvSpPr>
        <p:spPr>
          <a:xfrm>
            <a:off x="928370" y="1097622"/>
            <a:ext cx="1486132" cy="234423"/>
          </a:xfrm>
          <a:prstGeom prst="rect">
            <a:avLst/>
          </a:prstGeom>
        </p:spPr>
        <p:txBody>
          <a:bodyPr wrap="square" lIns="0" tIns="0" rIns="0" bIns="0" rtlCol="0" anchor="t">
            <a:spAutoFit/>
          </a:bodyPr>
          <a:lstStyle/>
          <a:p>
            <a:pPr algn="just">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Project Outcome </a:t>
            </a:r>
          </a:p>
        </p:txBody>
      </p:sp>
      <p:sp>
        <p:nvSpPr>
          <p:cNvPr id="22" name="TextBox 22"/>
          <p:cNvSpPr txBox="1"/>
          <p:nvPr/>
        </p:nvSpPr>
        <p:spPr>
          <a:xfrm>
            <a:off x="946482" y="4618809"/>
            <a:ext cx="1935202" cy="378693"/>
          </a:xfrm>
          <a:prstGeom prst="rect">
            <a:avLst/>
          </a:prstGeom>
        </p:spPr>
        <p:txBody>
          <a:bodyPr wrap="square" lIns="0" tIns="0" rIns="0" bIns="0" rtlCol="0" anchor="t">
            <a:spAutoFit/>
          </a:bodyPr>
          <a:lstStyle/>
          <a:p>
            <a:pPr algn="just">
              <a:lnSpc>
                <a:spcPts val="349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System Requirements </a:t>
            </a:r>
          </a:p>
        </p:txBody>
      </p:sp>
      <p:sp>
        <p:nvSpPr>
          <p:cNvPr id="23" name="TextBox 23"/>
          <p:cNvSpPr txBox="1"/>
          <p:nvPr/>
        </p:nvSpPr>
        <p:spPr>
          <a:xfrm>
            <a:off x="1126435" y="4990048"/>
            <a:ext cx="927689" cy="378693"/>
          </a:xfrm>
          <a:prstGeom prst="rect">
            <a:avLst/>
          </a:prstGeom>
        </p:spPr>
        <p:txBody>
          <a:bodyPr wrap="square" lIns="0" tIns="0" rIns="0" bIns="0" rtlCol="0" anchor="t">
            <a:spAutoFit/>
          </a:bodyPr>
          <a:lstStyle/>
          <a:p>
            <a:pPr algn="just">
              <a:lnSpc>
                <a:spcPts val="349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Hardware: </a:t>
            </a:r>
          </a:p>
        </p:txBody>
      </p:sp>
      <p:sp>
        <p:nvSpPr>
          <p:cNvPr id="24" name="TextBox 24"/>
          <p:cNvSpPr txBox="1"/>
          <p:nvPr/>
        </p:nvSpPr>
        <p:spPr>
          <a:xfrm>
            <a:off x="914401" y="9679810"/>
            <a:ext cx="5763810" cy="177356"/>
          </a:xfrm>
          <a:prstGeom prst="rect">
            <a:avLst/>
          </a:prstGeom>
        </p:spPr>
        <p:txBody>
          <a:bodyPr wrap="square" lIns="0" tIns="0" rIns="0" bIns="0" rtlCol="0" anchor="t">
            <a:spAutoFit/>
          </a:bodyPr>
          <a:lstStyle/>
          <a:p>
            <a:pPr algn="just">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_________________________________________________________________________ </a:t>
            </a:r>
          </a:p>
        </p:txBody>
      </p:sp>
      <p:sp>
        <p:nvSpPr>
          <p:cNvPr id="25" name="TextBox 25"/>
          <p:cNvSpPr txBox="1"/>
          <p:nvPr/>
        </p:nvSpPr>
        <p:spPr>
          <a:xfrm>
            <a:off x="914400" y="9864538"/>
            <a:ext cx="1856755" cy="177356"/>
          </a:xfrm>
          <a:prstGeom prst="rect">
            <a:avLst/>
          </a:prstGeom>
        </p:spPr>
        <p:txBody>
          <a:bodyPr wrap="square" lIns="0" tIns="0" rIns="0" bIns="0" rtlCol="0" anchor="t">
            <a:spAutoFit/>
          </a:bodyPr>
          <a:lstStyle/>
          <a:p>
            <a:pPr algn="just">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Dept. of ISE, GNDEC, Bidar </a:t>
            </a:r>
          </a:p>
        </p:txBody>
      </p:sp>
      <p:sp>
        <p:nvSpPr>
          <p:cNvPr id="26" name="TextBox 26"/>
          <p:cNvSpPr txBox="1"/>
          <p:nvPr/>
        </p:nvSpPr>
        <p:spPr>
          <a:xfrm>
            <a:off x="6400800" y="9864538"/>
            <a:ext cx="117627" cy="177356"/>
          </a:xfrm>
          <a:prstGeom prst="rect">
            <a:avLst/>
          </a:prstGeom>
        </p:spPr>
        <p:txBody>
          <a:bodyPr wrap="square" lIns="0" tIns="0" rIns="0" bIns="0" rtlCol="0" anchor="t">
            <a:spAutoFit/>
          </a:bodyPr>
          <a:lstStyle/>
          <a:p>
            <a:pPr algn="just">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7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7689847"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algn="just"/>
            <a:endParaRPr lang="en-IN">
              <a:latin typeface="Times New Roman" panose="02020603050405020304" pitchFamily="18" charset="0"/>
              <a:cs typeface="Times New Roman" panose="02020603050405020304" pitchFamily="18" charset="0"/>
            </a:endParaRPr>
          </a:p>
        </p:txBody>
      </p:sp>
      <p:sp>
        <p:nvSpPr>
          <p:cNvPr id="3" name="TextBox 3"/>
          <p:cNvSpPr txBox="1"/>
          <p:nvPr/>
        </p:nvSpPr>
        <p:spPr>
          <a:xfrm>
            <a:off x="914400" y="443379"/>
            <a:ext cx="5757015" cy="188450"/>
          </a:xfrm>
          <a:prstGeom prst="rect">
            <a:avLst/>
          </a:prstGeom>
        </p:spPr>
        <p:txBody>
          <a:bodyPr lIns="0" tIns="0" rIns="0" bIns="0" rtlCol="0" anchor="t">
            <a:spAutoFit/>
          </a:bodyPr>
          <a:lstStyle/>
          <a:p>
            <a:pPr algn="just">
              <a:lnSpc>
                <a:spcPts val="1609"/>
              </a:lnSpc>
            </a:pPr>
            <a:r>
              <a:rPr lang="en-US" sz="1150" b="1">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5" name="TextBox 5"/>
          <p:cNvSpPr txBox="1"/>
          <p:nvPr/>
        </p:nvSpPr>
        <p:spPr>
          <a:xfrm>
            <a:off x="1143000" y="901447"/>
            <a:ext cx="5425683" cy="776623"/>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5.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NLP/Web Scraping:</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BeautifulSoup4, Requests for crawling; NLTK for NLP/keyword analysis.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7" name="TextBox 7"/>
          <p:cNvSpPr txBox="1"/>
          <p:nvPr/>
        </p:nvSpPr>
        <p:spPr>
          <a:xfrm>
            <a:off x="1134861" y="1476783"/>
            <a:ext cx="5425683" cy="1853841"/>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6.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Web Framework:</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Flask for the local web application interface.</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7.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Visualization:</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Matplotlib and Seaborn for plotting performance charts (AUC-ROC, confusion matrices). </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8. </a:t>
            </a:r>
            <a:r>
              <a:rPr lang="en-US" sz="1200" b="1" dirty="0">
                <a:solidFill>
                  <a:srgbClr val="000000"/>
                </a:solidFill>
                <a:latin typeface="Times New Roman" panose="02020603050405020304" pitchFamily="18" charset="0"/>
                <a:ea typeface="Arial Bold"/>
                <a:cs typeface="Times New Roman" panose="02020603050405020304" pitchFamily="18" charset="0"/>
                <a:sym typeface="Arial Bold"/>
              </a:rPr>
              <a:t>Browser:</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Modern browser (Chrome, Firefox, Edge) to access the Flask application. </a:t>
            </a:r>
          </a:p>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 </a:t>
            </a: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a:p>
            <a:pPr algn="just">
              <a:lnSpc>
                <a:spcPts val="2070"/>
              </a:lnSpc>
            </a:pPr>
            <a:endParaRPr lang="en-US" sz="1200"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11" name="TextBox 11"/>
          <p:cNvSpPr txBox="1"/>
          <p:nvPr/>
        </p:nvSpPr>
        <p:spPr>
          <a:xfrm>
            <a:off x="914399" y="3192813"/>
            <a:ext cx="5654283" cy="781660"/>
          </a:xfrm>
          <a:prstGeom prst="rect">
            <a:avLst/>
          </a:prstGeom>
        </p:spPr>
        <p:txBody>
          <a:bodyPr wrap="square"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1. A.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Sahingoz</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E. Batur, F. Bulut, and A. K. Ilhan, "Machine learning based phishing detection from URLs," Expert Systems with Applications, vol. 117, pp. 345-357, 2019. (Reference for URL-based feature extraction). </a:t>
            </a:r>
          </a:p>
        </p:txBody>
      </p:sp>
      <p:sp>
        <p:nvSpPr>
          <p:cNvPr id="12" name="TextBox 12"/>
          <p:cNvSpPr txBox="1"/>
          <p:nvPr/>
        </p:nvSpPr>
        <p:spPr>
          <a:xfrm>
            <a:off x="914400" y="3937404"/>
            <a:ext cx="5654283" cy="1074781"/>
          </a:xfrm>
          <a:prstGeom prst="rect">
            <a:avLst/>
          </a:prstGeom>
        </p:spPr>
        <p:txBody>
          <a:bodyPr wrap="square" lIns="0" tIns="0" rIns="0" bIns="0" rtlCol="0" anchor="t">
            <a:spAutoFit/>
          </a:bodyPr>
          <a:lstStyle/>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2. S. Abu-Nimeh, D. Nappa, X. Wang, and S. Nair, "A comparison of machine learning </a:t>
            </a:r>
          </a:p>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techniques for phishing detection," in Proceedings of the anti-phishing working groups 2nd annual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eCrime</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researchers summit, 2007, pp. 60-69. (Reference for comparing ML models like Logistic Regression and Random Forest). </a:t>
            </a:r>
          </a:p>
        </p:txBody>
      </p:sp>
      <p:sp>
        <p:nvSpPr>
          <p:cNvPr id="13" name="TextBox 13"/>
          <p:cNvSpPr txBox="1"/>
          <p:nvPr/>
        </p:nvSpPr>
        <p:spPr>
          <a:xfrm>
            <a:off x="900383" y="4997497"/>
            <a:ext cx="5605187" cy="797782"/>
          </a:xfrm>
          <a:prstGeom prst="rect">
            <a:avLst/>
          </a:prstGeom>
        </p:spPr>
        <p:txBody>
          <a:bodyPr wrap="square" lIns="0" tIns="0" rIns="0" bIns="0" rtlCol="0" anchor="t">
            <a:spAutoFit/>
          </a:bodyPr>
          <a:lstStyle/>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3. R. Shirazi, K. N. N. Tun, and C. H. Hsu,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XGBoost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for cyber security anomaly detection," IEEE Access, vol. 8, pp. 112345-112355, 2020. (Reference for the  effectiveness of the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XGBoost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model). </a:t>
            </a:r>
          </a:p>
        </p:txBody>
      </p:sp>
      <p:sp>
        <p:nvSpPr>
          <p:cNvPr id="14" name="TextBox 14"/>
          <p:cNvSpPr txBox="1"/>
          <p:nvPr/>
        </p:nvSpPr>
        <p:spPr>
          <a:xfrm>
            <a:off x="883039" y="5863042"/>
            <a:ext cx="5577154" cy="797782"/>
          </a:xfrm>
          <a:prstGeom prst="rect">
            <a:avLst/>
          </a:prstGeom>
        </p:spPr>
        <p:txBody>
          <a:bodyPr lIns="0" tIns="0" rIns="0" bIns="0" rtlCol="0" anchor="t">
            <a:spAutoFit/>
          </a:bodyPr>
          <a:lstStyle/>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4. M. N. Sakib and M. M. Rahman, "Phishing Website Detection Using Natural Language Processing and Machine Learning," International Journal of Computer Applications, vol. 182, no. 48, pp. 15-20, 2019. (Reference for using NLP on webpage content). </a:t>
            </a:r>
          </a:p>
        </p:txBody>
      </p:sp>
      <p:sp>
        <p:nvSpPr>
          <p:cNvPr id="15" name="TextBox 15"/>
          <p:cNvSpPr txBox="1"/>
          <p:nvPr/>
        </p:nvSpPr>
        <p:spPr>
          <a:xfrm>
            <a:off x="883039" y="6728587"/>
            <a:ext cx="5593471" cy="797782"/>
          </a:xfrm>
          <a:prstGeom prst="rect">
            <a:avLst/>
          </a:prstGeom>
        </p:spPr>
        <p:txBody>
          <a:bodyPr lIns="0" tIns="0" rIns="0" bIns="0" rtlCol="0" anchor="t">
            <a:spAutoFit/>
          </a:bodyPr>
          <a:lstStyle/>
          <a:p>
            <a:pPr algn="just">
              <a:lnSpc>
                <a:spcPct val="15000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5. Y. A.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Alsirhani</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M. M. Alshammari, and A. S. Alshammari, "Real-time phishing detection utilizing domain name system and SSL certificate features," IEEE/ACM Transactions on Networking, 2021. (Reference for Domain and SSL analysis). </a:t>
            </a:r>
          </a:p>
        </p:txBody>
      </p:sp>
      <p:sp>
        <p:nvSpPr>
          <p:cNvPr id="16" name="TextBox 16"/>
          <p:cNvSpPr txBox="1"/>
          <p:nvPr/>
        </p:nvSpPr>
        <p:spPr>
          <a:xfrm>
            <a:off x="914400" y="2811020"/>
            <a:ext cx="1027728" cy="234423"/>
          </a:xfrm>
          <a:prstGeom prst="rect">
            <a:avLst/>
          </a:prstGeom>
        </p:spPr>
        <p:txBody>
          <a:bodyPr lIns="0" tIns="0" rIns="0" bIns="0" rtlCol="0" anchor="t">
            <a:spAutoFit/>
          </a:bodyPr>
          <a:lstStyle/>
          <a:p>
            <a:pPr algn="just">
              <a:lnSpc>
                <a:spcPts val="1959"/>
              </a:lnSpc>
            </a:pPr>
            <a:r>
              <a:rPr lang="en-US" sz="1399" b="1" dirty="0">
                <a:solidFill>
                  <a:srgbClr val="000000"/>
                </a:solidFill>
                <a:latin typeface="Times New Roman" panose="02020603050405020304" pitchFamily="18" charset="0"/>
                <a:ea typeface="Arial Bold"/>
                <a:cs typeface="Times New Roman" panose="02020603050405020304" pitchFamily="18" charset="0"/>
                <a:sym typeface="Arial Bold"/>
              </a:rPr>
              <a:t>References </a:t>
            </a:r>
          </a:p>
        </p:txBody>
      </p:sp>
      <p:sp>
        <p:nvSpPr>
          <p:cNvPr id="17" name="TextBox 17"/>
          <p:cNvSpPr txBox="1"/>
          <p:nvPr/>
        </p:nvSpPr>
        <p:spPr>
          <a:xfrm>
            <a:off x="914400" y="9679800"/>
            <a:ext cx="5820613" cy="177356"/>
          </a:xfrm>
          <a:prstGeom prst="rect">
            <a:avLst/>
          </a:prstGeom>
        </p:spPr>
        <p:txBody>
          <a:bodyPr lIns="0" tIns="0" rIns="0" bIns="0" rtlCol="0" anchor="t">
            <a:spAutoFit/>
          </a:bodyPr>
          <a:lstStyle/>
          <a:p>
            <a:pPr algn="just">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_________________________________________________________________________ </a:t>
            </a:r>
          </a:p>
        </p:txBody>
      </p:sp>
      <p:sp>
        <p:nvSpPr>
          <p:cNvPr id="18" name="TextBox 18"/>
          <p:cNvSpPr txBox="1"/>
          <p:nvPr/>
        </p:nvSpPr>
        <p:spPr>
          <a:xfrm>
            <a:off x="914400" y="9864538"/>
            <a:ext cx="1875053" cy="177356"/>
          </a:xfrm>
          <a:prstGeom prst="rect">
            <a:avLst/>
          </a:prstGeom>
        </p:spPr>
        <p:txBody>
          <a:bodyPr lIns="0" tIns="0" rIns="0" bIns="0" rtlCol="0" anchor="t">
            <a:spAutoFit/>
          </a:bodyPr>
          <a:lstStyle/>
          <a:p>
            <a:pPr algn="just">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Dept. of ISE, GNDEC, Bidar </a:t>
            </a:r>
          </a:p>
        </p:txBody>
      </p:sp>
      <p:sp>
        <p:nvSpPr>
          <p:cNvPr id="19" name="TextBox 19"/>
          <p:cNvSpPr txBox="1"/>
          <p:nvPr/>
        </p:nvSpPr>
        <p:spPr>
          <a:xfrm>
            <a:off x="6400800" y="9864538"/>
            <a:ext cx="118786" cy="177356"/>
          </a:xfrm>
          <a:prstGeom prst="rect">
            <a:avLst/>
          </a:prstGeom>
        </p:spPr>
        <p:txBody>
          <a:bodyPr lIns="0" tIns="0" rIns="0" bIns="0" rtlCol="0" anchor="t">
            <a:spAutoFit/>
          </a:bodyPr>
          <a:lstStyle/>
          <a:p>
            <a:pPr algn="just">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8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7689847" cy="10820400"/>
          </a:xfrm>
          <a:custGeom>
            <a:avLst/>
            <a:gdLst/>
            <a:ahLst/>
            <a:cxnLst/>
            <a:rect l="l" t="t" r="r" b="b"/>
            <a:pathLst>
              <a:path w="7689847" h="10820400">
                <a:moveTo>
                  <a:pt x="0" y="0"/>
                </a:moveTo>
                <a:lnTo>
                  <a:pt x="7689847" y="0"/>
                </a:lnTo>
                <a:lnTo>
                  <a:pt x="7689847" y="10820400"/>
                </a:lnTo>
                <a:lnTo>
                  <a:pt x="0" y="10820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 name="TextBox 3"/>
          <p:cNvSpPr txBox="1"/>
          <p:nvPr/>
        </p:nvSpPr>
        <p:spPr>
          <a:xfrm>
            <a:off x="914400" y="443379"/>
            <a:ext cx="5757015" cy="188450"/>
          </a:xfrm>
          <a:prstGeom prst="rect">
            <a:avLst/>
          </a:prstGeom>
        </p:spPr>
        <p:txBody>
          <a:bodyPr lIns="0" tIns="0" rIns="0" bIns="0" rtlCol="0" anchor="t">
            <a:spAutoFit/>
          </a:bodyPr>
          <a:lstStyle/>
          <a:p>
            <a:pPr algn="l">
              <a:lnSpc>
                <a:spcPts val="1609"/>
              </a:lnSpc>
            </a:pPr>
            <a:r>
              <a:rPr lang="en-US" sz="1150" b="1">
                <a:solidFill>
                  <a:srgbClr val="000000"/>
                </a:solidFill>
                <a:latin typeface="Times New Roman" panose="02020603050405020304" pitchFamily="18" charset="0"/>
                <a:ea typeface="Arial Bold"/>
                <a:cs typeface="Times New Roman" panose="02020603050405020304" pitchFamily="18" charset="0"/>
                <a:sym typeface="Arial Bold"/>
              </a:rPr>
              <a:t>Advanced AI-Based Phishing Website Detection System with Real-time Analysis. </a:t>
            </a:r>
          </a:p>
        </p:txBody>
      </p:sp>
      <p:sp>
        <p:nvSpPr>
          <p:cNvPr id="4" name="TextBox 4"/>
          <p:cNvSpPr txBox="1"/>
          <p:nvPr/>
        </p:nvSpPr>
        <p:spPr>
          <a:xfrm>
            <a:off x="914400" y="896331"/>
            <a:ext cx="1037196" cy="234423"/>
          </a:xfrm>
          <a:prstGeom prst="rect">
            <a:avLst/>
          </a:prstGeom>
        </p:spPr>
        <p:txBody>
          <a:bodyPr lIns="0" tIns="0" rIns="0" bIns="0" rtlCol="0" anchor="t">
            <a:spAutoFit/>
          </a:bodyPr>
          <a:lstStyle/>
          <a:p>
            <a:pPr algn="l">
              <a:lnSpc>
                <a:spcPts val="1959"/>
              </a:lnSpc>
            </a:pPr>
            <a:r>
              <a:rPr lang="en-US" sz="1399" b="1">
                <a:solidFill>
                  <a:srgbClr val="000000"/>
                </a:solidFill>
                <a:latin typeface="Times New Roman" panose="02020603050405020304" pitchFamily="18" charset="0"/>
                <a:ea typeface="Arial Bold"/>
                <a:cs typeface="Times New Roman" panose="02020603050405020304" pitchFamily="18" charset="0"/>
                <a:sym typeface="Arial Bold"/>
              </a:rPr>
              <a:t>Conclusion </a:t>
            </a:r>
          </a:p>
        </p:txBody>
      </p:sp>
      <p:sp>
        <p:nvSpPr>
          <p:cNvPr id="5" name="TextBox 5"/>
          <p:cNvSpPr txBox="1"/>
          <p:nvPr/>
        </p:nvSpPr>
        <p:spPr>
          <a:xfrm>
            <a:off x="914400" y="1314726"/>
            <a:ext cx="5875753" cy="2931059"/>
          </a:xfrm>
          <a:prstGeom prst="rect">
            <a:avLst/>
          </a:prstGeom>
        </p:spPr>
        <p:txBody>
          <a:bodyPr lIns="0" tIns="0" rIns="0" bIns="0" rtlCol="0" anchor="t">
            <a:spAutoFit/>
          </a:bodyPr>
          <a:lstStyle/>
          <a:p>
            <a:pPr algn="just">
              <a:lnSpc>
                <a:spcPts val="2070"/>
              </a:lnSpc>
            </a:pPr>
            <a:r>
              <a:rPr lang="en-US" sz="1200" dirty="0">
                <a:solidFill>
                  <a:srgbClr val="000000"/>
                </a:solidFill>
                <a:latin typeface="Times New Roman" panose="02020603050405020304" pitchFamily="18" charset="0"/>
                <a:ea typeface="Arial"/>
                <a:cs typeface="Times New Roman" panose="02020603050405020304" pitchFamily="18" charset="0"/>
                <a:sym typeface="Arial"/>
              </a:rPr>
              <a:t>In conclusion, the proposed Advanced AI-Based Phishing Website Detection System offers a comprehensive and proactive approach to cybersecurity. By moving beyond traditional, static URL blacklisting and adopting a multi-layered feature extraction methodology—combining URL heuristics, domain registry details, and NLP-driven content analysis—the system is uniquely equipped to identify sophisticated, zero-day phishing attacks. The comparative analysis of machine learning algorithms, particularly </a:t>
            </a:r>
            <a:r>
              <a:rPr lang="en-US" sz="1200" dirty="0" err="1">
                <a:solidFill>
                  <a:srgbClr val="000000"/>
                </a:solidFill>
                <a:latin typeface="Times New Roman" panose="02020603050405020304" pitchFamily="18" charset="0"/>
                <a:ea typeface="Arial"/>
                <a:cs typeface="Times New Roman" panose="02020603050405020304" pitchFamily="18" charset="0"/>
                <a:sym typeface="Arial"/>
              </a:rPr>
              <a:t>XGBoost</a:t>
            </a:r>
            <a:r>
              <a:rPr lang="en-US" sz="1200" dirty="0">
                <a:solidFill>
                  <a:srgbClr val="000000"/>
                </a:solidFill>
                <a:latin typeface="Times New Roman" panose="02020603050405020304" pitchFamily="18" charset="0"/>
                <a:ea typeface="Arial"/>
                <a:cs typeface="Times New Roman" panose="02020603050405020304" pitchFamily="18" charset="0"/>
                <a:sym typeface="Arial"/>
              </a:rPr>
              <a:t> and Random Forest, ensures optimal real-time detection accuracy. Ultimately, through its user-friendly Flask-based web interface, this project not only delivers a robust technical solution for threat classification but also provides an accessible tool to protect everyday internet users from increasingly deceptive online fraud. As a scalable architecture, it also lays a strong foundation for future integration into browser extensions for seamless, automated protection. </a:t>
            </a:r>
          </a:p>
        </p:txBody>
      </p:sp>
      <p:sp>
        <p:nvSpPr>
          <p:cNvPr id="6" name="TextBox 6"/>
          <p:cNvSpPr txBox="1"/>
          <p:nvPr/>
        </p:nvSpPr>
        <p:spPr>
          <a:xfrm>
            <a:off x="914400" y="9679800"/>
            <a:ext cx="5820613" cy="177356"/>
          </a:xfrm>
          <a:prstGeom prst="rect">
            <a:avLst/>
          </a:prstGeom>
        </p:spPr>
        <p:txBody>
          <a:bodyPr lIns="0" tIns="0" rIns="0" bIns="0" rtlCol="0" anchor="t">
            <a:spAutoFit/>
          </a:bodyPr>
          <a:lstStyle/>
          <a:p>
            <a:pPr algn="l">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_________________________________________________________________________ </a:t>
            </a:r>
          </a:p>
        </p:txBody>
      </p:sp>
      <p:sp>
        <p:nvSpPr>
          <p:cNvPr id="7" name="TextBox 7"/>
          <p:cNvSpPr txBox="1"/>
          <p:nvPr/>
        </p:nvSpPr>
        <p:spPr>
          <a:xfrm>
            <a:off x="914400" y="9864538"/>
            <a:ext cx="1875053" cy="177356"/>
          </a:xfrm>
          <a:prstGeom prst="rect">
            <a:avLst/>
          </a:prstGeom>
        </p:spPr>
        <p:txBody>
          <a:bodyPr lIns="0" tIns="0" rIns="0" bIns="0" rtlCol="0" anchor="t">
            <a:spAutoFit/>
          </a:bodyPr>
          <a:lstStyle/>
          <a:p>
            <a:pPr algn="l">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Dept. of ISE, GNDEC, Bidar </a:t>
            </a:r>
          </a:p>
        </p:txBody>
      </p:sp>
      <p:sp>
        <p:nvSpPr>
          <p:cNvPr id="8" name="TextBox 8"/>
          <p:cNvSpPr txBox="1"/>
          <p:nvPr/>
        </p:nvSpPr>
        <p:spPr>
          <a:xfrm>
            <a:off x="6400800" y="9864538"/>
            <a:ext cx="118786" cy="177356"/>
          </a:xfrm>
          <a:prstGeom prst="rect">
            <a:avLst/>
          </a:prstGeom>
        </p:spPr>
        <p:txBody>
          <a:bodyPr lIns="0" tIns="0" rIns="0" bIns="0" rtlCol="0" anchor="t">
            <a:spAutoFit/>
          </a:bodyPr>
          <a:lstStyle/>
          <a:p>
            <a:pPr algn="l">
              <a:lnSpc>
                <a:spcPts val="1454"/>
              </a:lnSpc>
            </a:pPr>
            <a:r>
              <a:rPr lang="en-US" sz="1100" b="1">
                <a:solidFill>
                  <a:srgbClr val="000000"/>
                </a:solidFill>
                <a:latin typeface="Times New Roman" panose="02020603050405020304" pitchFamily="18" charset="0"/>
                <a:ea typeface="Arial Bold"/>
                <a:cs typeface="Times New Roman" panose="02020603050405020304" pitchFamily="18" charset="0"/>
                <a:sym typeface="Arial Bold"/>
              </a:rPr>
              <a:t>9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2602</Words>
  <Application>Microsoft Office PowerPoint</Application>
  <PresentationFormat>Custom</PresentationFormat>
  <Paragraphs>261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Bold</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_merged.pdf</dc:title>
  <dc:creator>Rakesh Kumar</dc:creator>
  <cp:lastModifiedBy>Rakesh Kumar</cp:lastModifiedBy>
  <cp:revision>2</cp:revision>
  <dcterms:created xsi:type="dcterms:W3CDTF">2006-08-16T00:00:00Z</dcterms:created>
  <dcterms:modified xsi:type="dcterms:W3CDTF">2026-04-15T10:12:55Z</dcterms:modified>
  <dc:identifier>DAHGh5K8Lyo</dc:identifier>
</cp:coreProperties>
</file>